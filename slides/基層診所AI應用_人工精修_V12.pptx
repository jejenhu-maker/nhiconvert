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1" r:id="rId1"/>
  </p:sldMasterIdLst>
  <p:notesMasterIdLst>
    <p:notesMasterId r:id="rId22"/>
  </p:notesMasterIdLst>
  <p:sldIdLst>
    <p:sldId id="308" r:id="rId2"/>
    <p:sldId id="282" r:id="rId3"/>
    <p:sldId id="285" r:id="rId4"/>
    <p:sldId id="258" r:id="rId5"/>
    <p:sldId id="290" r:id="rId6"/>
    <p:sldId id="306" r:id="rId7"/>
    <p:sldId id="303" r:id="rId8"/>
    <p:sldId id="259" r:id="rId9"/>
    <p:sldId id="261" r:id="rId10"/>
    <p:sldId id="292" r:id="rId11"/>
    <p:sldId id="311" r:id="rId12"/>
    <p:sldId id="262" r:id="rId13"/>
    <p:sldId id="305" r:id="rId14"/>
    <p:sldId id="266" r:id="rId15"/>
    <p:sldId id="268" r:id="rId16"/>
    <p:sldId id="269" r:id="rId17"/>
    <p:sldId id="272" r:id="rId18"/>
    <p:sldId id="307" r:id="rId19"/>
    <p:sldId id="275" r:id="rId20"/>
    <p:sldId id="276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 snapToObjects="1">
      <p:cViewPr varScale="1">
        <p:scale>
          <a:sx n="99" d="100"/>
          <a:sy n="99" d="100"/>
        </p:scale>
        <p:origin x="192" y="6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342A16-4890-8340-89DD-068394676016}" type="datetimeFigureOut">
              <a:rPr kumimoji="1" lang="zh-TW" altLang="en-US" smtClean="0"/>
              <a:t>2026/9/13</a:t>
            </a:fld>
            <a:endParaRPr kumimoji="1"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1E9A63-ECAB-654B-8CC0-072195073081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4498735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時間：1分鐘。</a:t>
            </a:r>
          </a:p>
          <a:p>
            <a:r>
              <a:rPr dirty="0" err="1"/>
              <a:t>開場只說明今天不是純功能介紹，而是會完成兩項可以帶回診所使用的成果。不要在此頁講太多背景</a:t>
            </a:r>
            <a:r>
              <a:rPr dirty="0"/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時間：2分鐘。</a:t>
            </a:r>
          </a:p>
          <a:p>
            <a:r>
              <a:rPr dirty="0" err="1"/>
              <a:t>簡短介紹醫療、管理與AI實作背景，讓學員知道本課程以診所現場可用的操作經驗為主，不需要逐條朗讀全部內容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[Sources]</a:t>
            </a:r>
          </a:p>
          <a:p>
            <a:r>
              <a:rPr dirty="0"/>
              <a:t>- User-provided portrait photo: portrait-</a:t>
            </a:r>
            <a:r>
              <a:rPr dirty="0" err="1"/>
              <a:t>photo.png</a:t>
            </a:r>
            <a:endParaRPr dirty="0"/>
          </a:p>
          <a:p>
            <a:r>
              <a:rPr dirty="0"/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049879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微軟正黑體"/>
          <a:ea typeface="微軟正黑體"/>
          <a:cs typeface="微軟正黑體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微軟正黑體"/>
          <a:ea typeface="微軟正黑體"/>
          <a:cs typeface="微軟正黑體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微軟正黑體"/>
          <a:ea typeface="微軟正黑體"/>
          <a:cs typeface="微軟正黑體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微軟正黑體"/>
          <a:ea typeface="微軟正黑體"/>
          <a:cs typeface="微軟正黑體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微軟正黑體"/>
          <a:ea typeface="微軟正黑體"/>
          <a:cs typeface="微軟正黑體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微軟正黑體"/>
          <a:ea typeface="微軟正黑體"/>
          <a:cs typeface="微軟正黑體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微軟正黑體"/>
          <a:ea typeface="微軟正黑體"/>
          <a:cs typeface="微軟正黑體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微軟正黑體"/>
          <a:ea typeface="微軟正黑體"/>
          <a:cs typeface="微軟正黑體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微軟正黑體"/>
          <a:ea typeface="微軟正黑體"/>
          <a:cs typeface="微軟正黑體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微軟正黑體"/>
          <a:ea typeface="微軟正黑體"/>
          <a:cs typeface="微軟正黑體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微軟正黑體"/>
          <a:ea typeface="微軟正黑體"/>
          <a:cs typeface="微軟正黑體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微軟正黑體"/>
          <a:ea typeface="微軟正黑體"/>
          <a:cs typeface="微軟正黑體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微軟正黑體"/>
          <a:ea typeface="微軟正黑體"/>
          <a:cs typeface="微軟正黑體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微軟正黑體"/>
          <a:ea typeface="微軟正黑體"/>
          <a:cs typeface="微軟正黑體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微軟正黑體"/>
          <a:ea typeface="微軟正黑體"/>
          <a:cs typeface="微軟正黑體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微軟正黑體"/>
          <a:ea typeface="微軟正黑體"/>
          <a:cs typeface="微軟正黑體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微軟正黑體"/>
          <a:ea typeface="微軟正黑體"/>
          <a:cs typeface="微軟正黑體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微軟正黑體"/>
          <a:ea typeface="微軟正黑體"/>
          <a:cs typeface="微軟正黑體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微軟正黑體"/>
          <a:ea typeface="微軟正黑體"/>
          <a:cs typeface="微軟正黑體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jpeg"/><Relationship Id="rId4" Type="http://schemas.openxmlformats.org/officeDocument/2006/relationships/image" Target="../media/image2.png"/><Relationship Id="rId9" Type="http://schemas.openxmlformats.org/officeDocument/2006/relationships/image" Target="../media/image7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/>
              <a:ea typeface="微軟正黑體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/>
              <a:ea typeface="微軟正黑體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2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/>
              <a:ea typeface="微軟正黑體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5623560"/>
            <a:ext cx="12191695" cy="1234440"/>
          </a:xfrm>
          <a:prstGeom prst="rect">
            <a:avLst/>
          </a:prstGeom>
          <a:solidFill>
            <a:srgbClr val="F3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/>
              <a:ea typeface="微軟正黑體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5623560"/>
            <a:ext cx="12191695" cy="36576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/>
              <a:ea typeface="微軟正黑體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85800" y="1554480"/>
            <a:ext cx="10515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156082"/>
                </a:solidFill>
                <a:latin typeface="微軟正黑體"/>
                <a:ea typeface="微軟正黑體"/>
              </a:rPr>
              <a:t>大臺中診所協會｜AI 基礎醫療應用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03120"/>
            <a:ext cx="1078992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 dirty="0" err="1">
                <a:solidFill>
                  <a:srgbClr val="0E2841"/>
                </a:solidFill>
                <a:latin typeface="微軟正黑體"/>
                <a:ea typeface="微軟正黑體"/>
              </a:rPr>
              <a:t>基層診所如何應用</a:t>
            </a:r>
            <a:r>
              <a:rPr sz="3600" b="1" dirty="0">
                <a:solidFill>
                  <a:srgbClr val="0E2841"/>
                </a:solidFill>
                <a:latin typeface="微軟正黑體"/>
                <a:ea typeface="微軟正黑體"/>
              </a:rPr>
              <a:t> AI </a:t>
            </a:r>
            <a:r>
              <a:rPr sz="3600" b="1" dirty="0" err="1">
                <a:solidFill>
                  <a:srgbClr val="0E2841"/>
                </a:solidFill>
                <a:latin typeface="微軟正黑體"/>
                <a:ea typeface="微軟正黑體"/>
              </a:rPr>
              <a:t>處理診所工作</a:t>
            </a:r>
            <a:endParaRPr sz="3600" b="1" dirty="0">
              <a:solidFill>
                <a:srgbClr val="0E2841"/>
              </a:solidFill>
              <a:latin typeface="微軟正黑體"/>
              <a:ea typeface="微軟正黑體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85800" y="3383280"/>
            <a:ext cx="105156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>
                <a:solidFill>
                  <a:srgbClr val="5A6A7A"/>
                </a:solidFill>
                <a:latin typeface="微軟正黑體"/>
                <a:ea typeface="微軟正黑體"/>
              </a:rPr>
              <a:t>OpenEvidence 安裝與使用  ×  健保申報檔資料分析（實作）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5806440"/>
            <a:ext cx="7315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0E2841"/>
                </a:solidFill>
                <a:latin typeface="微軟正黑體"/>
                <a:ea typeface="微軟正黑體"/>
              </a:rPr>
              <a:t>胡哲禎 醫師｜實作 × 分享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172200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5A6A7A"/>
                </a:solidFill>
                <a:latin typeface="微軟正黑體"/>
                <a:ea typeface="微軟正黑體"/>
              </a:rPr>
              <a:t>合成資料僅供教學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28655" y="6510528"/>
            <a:ext cx="914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5A6A7A"/>
                </a:solidFill>
                <a:latin typeface="微軟正黑體"/>
                <a:ea typeface="微軟正黑體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6510528"/>
            <a:ext cx="9144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5A6A7A"/>
                </a:solidFill>
                <a:latin typeface="微軟正黑體"/>
                <a:ea typeface="微軟正黑體"/>
              </a:rPr>
              <a:t>大台中診所協會 胡哲禎醫師 ｜ 2026</a:t>
            </a:r>
          </a:p>
        </p:txBody>
      </p:sp>
    </p:spTree>
    <p:extLst>
      <p:ext uri="{BB962C8B-B14F-4D97-AF65-F5344CB8AC3E}">
        <p14:creationId xmlns:p14="http://schemas.microsoft.com/office/powerpoint/2010/main" val="13236403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圖片 19" descr="5+ Hermes Agent Logo PNG &amp; SVG Vectors HD Quality">
            <a:extLst>
              <a:ext uri="{FF2B5EF4-FFF2-40B4-BE49-F238E27FC236}">
                <a16:creationId xmlns:a16="http://schemas.microsoft.com/office/drawing/2014/main" id="{692F52FA-02E3-570F-67DC-9D3F24E0A91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biLevel thresh="50000"/>
          </a:blip>
          <a:srcRect l="2317" t="17881" r="1426" b="25303"/>
          <a:stretch>
            <a:fillRect/>
          </a:stretch>
        </p:blipFill>
        <p:spPr>
          <a:xfrm>
            <a:off x="9812019" y="4692730"/>
            <a:ext cx="1675431" cy="988932"/>
          </a:xfrm>
          <a:prstGeom prst="rect">
            <a:avLst/>
          </a:prstGeom>
          <a:blipFill>
            <a:blip r:embed="rId4"/>
            <a:tile tx="0" ty="0" sx="100000" sy="100000" flip="none" algn="tl"/>
          </a:blipFill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2D5C04BB-50A1-4DE6-BACF-D66EAFF8050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  <p:txBody>
          <a:bodyPr/>
          <a:lstStyle/>
          <a:p>
            <a:endParaRPr>
              <a:latin typeface="微軟正黑體"/>
              <a:ea typeface="微軟正黑體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FE67C9A-8CA6-4B1F-8EC1-B479AE54E806}"/>
              </a:ext>
            </a:extLst>
          </p:cNvPr>
          <p:cNvSpPr>
            <a:spLocks noGrp="1"/>
          </p:cNvSpPr>
          <p:nvPr/>
        </p:nvSpPr>
        <p:spPr>
          <a:xfrm>
            <a:off x="552450" y="457200"/>
            <a:ext cx="666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500" b="1">
                <a:solidFill>
                  <a:srgbClr val="5E6672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5E6672"/>
                </a:solidFill>
                <a:latin typeface="微軟正黑體"/>
                <a:ea typeface="微軟正黑體"/>
                <a:cs typeface="Noto Sans TC"/>
              </a:rPr>
              <a:t>大臺中診所協會｜AI基礎醫療應用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1836E95-EF44-430E-9C2C-56D94686EBDA}"/>
              </a:ext>
            </a:extLst>
          </p:cNvPr>
          <p:cNvSpPr>
            <a:spLocks noGrp="1"/>
          </p:cNvSpPr>
          <p:nvPr/>
        </p:nvSpPr>
        <p:spPr>
          <a:xfrm>
            <a:off x="552450" y="1619250"/>
            <a:ext cx="762000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5400" b="1">
                <a:solidFill>
                  <a:srgbClr val="0A0A0A"/>
                </a:solidFill>
                <a:latin typeface="Noto Sans TC"/>
                <a:ea typeface="Noto Sans TC"/>
                <a:cs typeface="Noto Sans TC"/>
              </a:defRPr>
            </a:pPr>
            <a:r>
              <a:rPr sz="5400" b="1" dirty="0" err="1">
                <a:solidFill>
                  <a:srgbClr val="0A0A0A"/>
                </a:solidFill>
                <a:latin typeface="微軟正黑體"/>
                <a:ea typeface="微軟正黑體"/>
                <a:cs typeface="Noto Sans TC"/>
              </a:rPr>
              <a:t>醫師的</a:t>
            </a:r>
            <a:r>
              <a:rPr sz="5400" b="1" dirty="0">
                <a:solidFill>
                  <a:srgbClr val="0A0A0A"/>
                </a:solidFill>
                <a:latin typeface="微軟正黑體"/>
                <a:ea typeface="微軟正黑體"/>
                <a:cs typeface="Noto Sans TC"/>
              </a:rPr>
              <a:t> AI</a:t>
            </a:r>
          </a:p>
          <a:p>
            <a:pPr algn="l">
              <a:buNone/>
              <a:defRPr sz="5400" b="1">
                <a:solidFill>
                  <a:srgbClr val="0A0A0A"/>
                </a:solidFill>
                <a:latin typeface="Noto Sans TC"/>
                <a:ea typeface="Noto Sans TC"/>
                <a:cs typeface="Noto Sans TC"/>
              </a:defRPr>
            </a:pPr>
            <a:r>
              <a:rPr sz="5400" b="1" dirty="0" err="1">
                <a:solidFill>
                  <a:srgbClr val="0A0A0A"/>
                </a:solidFill>
                <a:latin typeface="微軟正黑體"/>
                <a:ea typeface="微軟正黑體"/>
                <a:cs typeface="Noto Sans TC"/>
              </a:rPr>
              <a:t>雙效實用課</a:t>
            </a:r>
            <a:endParaRPr sz="5400" b="1" dirty="0">
              <a:solidFill>
                <a:srgbClr val="0A0A0A"/>
              </a:solidFill>
              <a:latin typeface="微軟正黑體"/>
              <a:ea typeface="微軟正黑體"/>
              <a:cs typeface="Noto Sans TC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02DE526-36CB-4178-A38F-ED21C2E0FF4B}"/>
              </a:ext>
            </a:extLst>
          </p:cNvPr>
          <p:cNvSpPr>
            <a:spLocks noGrp="1"/>
          </p:cNvSpPr>
          <p:nvPr/>
        </p:nvSpPr>
        <p:spPr>
          <a:xfrm>
            <a:off x="590550" y="4000500"/>
            <a:ext cx="66675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2250" b="1">
                <a:solidFill>
                  <a:srgbClr val="3D8DFF"/>
                </a:solidFill>
                <a:latin typeface="Noto Sans TC"/>
                <a:ea typeface="Noto Sans TC"/>
                <a:cs typeface="Noto Sans TC"/>
              </a:defRPr>
            </a:pPr>
            <a:r>
              <a:rPr sz="2250" b="1" dirty="0" err="1">
                <a:solidFill>
                  <a:srgbClr val="3D8DFF"/>
                </a:solidFill>
                <a:latin typeface="微軟正黑體"/>
                <a:ea typeface="微軟正黑體"/>
                <a:cs typeface="Noto Sans TC"/>
              </a:rPr>
              <a:t>第</a:t>
            </a:r>
            <a:r>
              <a:rPr lang="en-US" sz="2250" b="1" dirty="0" err="1">
                <a:solidFill>
                  <a:srgbClr val="3D8DFF"/>
                </a:solidFill>
                <a:latin typeface="微軟正黑體"/>
                <a:ea typeface="微軟正黑體"/>
                <a:cs typeface="Noto Sans TC"/>
              </a:rPr>
              <a:t>二</a:t>
            </a:r>
            <a:r>
              <a:rPr sz="2250" b="1" dirty="0" err="1">
                <a:solidFill>
                  <a:srgbClr val="3D8DFF"/>
                </a:solidFill>
                <a:latin typeface="微軟正黑體"/>
                <a:ea typeface="微軟正黑體"/>
                <a:cs typeface="Noto Sans TC"/>
              </a:rPr>
              <a:t>堂</a:t>
            </a:r>
            <a:r>
              <a:rPr sz="2250" b="1" dirty="0">
                <a:solidFill>
                  <a:srgbClr val="3D8DFF"/>
                </a:solidFill>
                <a:latin typeface="微軟正黑體"/>
                <a:ea typeface="微軟正黑體"/>
                <a:cs typeface="Noto Sans TC"/>
              </a:rPr>
              <a:t>｜</a:t>
            </a:r>
            <a:r>
              <a:rPr lang="en-US" sz="2250" b="1" dirty="0">
                <a:solidFill>
                  <a:srgbClr val="3D8DFF"/>
                </a:solidFill>
                <a:latin typeface="微軟正黑體"/>
                <a:ea typeface="微軟正黑體"/>
                <a:cs typeface="Noto Sans TC"/>
              </a:rPr>
              <a:t>	</a:t>
            </a:r>
            <a:r>
              <a:rPr lang="en-US" sz="2250" b="1" dirty="0" err="1">
                <a:solidFill>
                  <a:srgbClr val="3D8DFF"/>
                </a:solidFill>
                <a:latin typeface="微軟正黑體"/>
                <a:ea typeface="微軟正黑體"/>
                <a:cs typeface="Noto Sans TC"/>
              </a:rPr>
              <a:t>OpenEvidence看診運用</a:t>
            </a:r>
            <a:endParaRPr lang="en-US" sz="2250" b="1" dirty="0">
              <a:solidFill>
                <a:srgbClr val="3D8DFF"/>
              </a:solidFill>
              <a:latin typeface="微軟正黑體"/>
              <a:ea typeface="微軟正黑體"/>
              <a:cs typeface="Noto Sans TC"/>
            </a:endParaRPr>
          </a:p>
          <a:p>
            <a:pPr algn="l">
              <a:buNone/>
              <a:defRPr sz="2250" b="1">
                <a:solidFill>
                  <a:srgbClr val="3D8DFF"/>
                </a:solidFill>
                <a:latin typeface="Noto Sans TC"/>
                <a:ea typeface="Noto Sans TC"/>
                <a:cs typeface="Noto Sans TC"/>
              </a:defRPr>
            </a:pPr>
            <a:r>
              <a:rPr lang="en-US" sz="2250" b="1" dirty="0">
                <a:solidFill>
                  <a:srgbClr val="3D8DFF"/>
                </a:solidFill>
                <a:latin typeface="微軟正黑體"/>
                <a:ea typeface="微軟正黑體"/>
                <a:cs typeface="Noto Sans TC"/>
              </a:rPr>
              <a:t>			</a:t>
            </a:r>
            <a:r>
              <a:rPr lang="en-US" sz="2250" b="1" dirty="0" err="1">
                <a:solidFill>
                  <a:srgbClr val="3D8DFF"/>
                </a:solidFill>
                <a:latin typeface="微軟正黑體"/>
                <a:ea typeface="微軟正黑體"/>
                <a:cs typeface="Noto Sans TC"/>
              </a:rPr>
              <a:t>健保申報資料分析</a:t>
            </a:r>
            <a:endParaRPr lang="en-US" sz="2250" b="1" dirty="0">
              <a:solidFill>
                <a:srgbClr val="3D8DFF"/>
              </a:solidFill>
              <a:latin typeface="微軟正黑體"/>
              <a:ea typeface="微軟正黑體"/>
              <a:cs typeface="Noto Sans TC"/>
            </a:endParaRPr>
          </a:p>
          <a:p>
            <a:pPr algn="l">
              <a:buNone/>
              <a:defRPr sz="2250" b="1">
                <a:solidFill>
                  <a:srgbClr val="3D8DFF"/>
                </a:solidFill>
                <a:latin typeface="Noto Sans TC"/>
                <a:ea typeface="Noto Sans TC"/>
                <a:cs typeface="Noto Sans TC"/>
              </a:defRPr>
            </a:pPr>
            <a:endParaRPr sz="2250" b="1" dirty="0">
              <a:solidFill>
                <a:srgbClr val="3D8DFF"/>
              </a:solidFill>
              <a:latin typeface="微軟正黑體"/>
              <a:ea typeface="微軟正黑體"/>
              <a:cs typeface="Noto Sans TC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3E3D008-551A-4F29-80C1-1C80E25227D3}"/>
              </a:ext>
            </a:extLst>
          </p:cNvPr>
          <p:cNvSpPr>
            <a:spLocks noGrp="1"/>
          </p:cNvSpPr>
          <p:nvPr/>
        </p:nvSpPr>
        <p:spPr>
          <a:xfrm>
            <a:off x="590550" y="5619750"/>
            <a:ext cx="3429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2348" lnSpcReduction="10000"/>
          </a:bodyPr>
          <a:lstStyle/>
          <a:p>
            <a:pPr>
              <a:defRPr sz="1650" b="0">
                <a:solidFill>
                  <a:srgbClr val="5E6672"/>
                </a:solidFill>
                <a:latin typeface="Noto Sans TC"/>
                <a:ea typeface="Noto Sans TC"/>
                <a:cs typeface="Noto Sans TC"/>
              </a:defRPr>
            </a:pPr>
            <a:r>
              <a:rPr lang="zh-TW" altLang="en-US" sz="1650" dirty="0">
                <a:solidFill>
                  <a:srgbClr val="5E6672"/>
                </a:solidFill>
                <a:latin typeface="微軟正黑體"/>
                <a:ea typeface="微軟正黑體"/>
                <a:cs typeface="Noto Sans TC"/>
              </a:rPr>
              <a:t>大臺中診所協會 </a:t>
            </a:r>
            <a:r>
              <a:rPr sz="1650" b="0" dirty="0" err="1">
                <a:solidFill>
                  <a:srgbClr val="5E6672"/>
                </a:solidFill>
                <a:latin typeface="微軟正黑體"/>
                <a:ea typeface="微軟正黑體"/>
                <a:cs typeface="Noto Sans TC"/>
              </a:rPr>
              <a:t>胡哲禎</a:t>
            </a:r>
            <a:r>
              <a:rPr sz="1650" b="0" dirty="0">
                <a:solidFill>
                  <a:srgbClr val="5E6672"/>
                </a:solidFill>
                <a:latin typeface="微軟正黑體"/>
                <a:ea typeface="微軟正黑體"/>
                <a:cs typeface="Noto Sans TC"/>
              </a:rPr>
              <a:t> </a:t>
            </a:r>
            <a:r>
              <a:rPr sz="1650" b="0" dirty="0" err="1">
                <a:solidFill>
                  <a:srgbClr val="5E6672"/>
                </a:solidFill>
                <a:latin typeface="微軟正黑體"/>
                <a:ea typeface="微軟正黑體"/>
                <a:cs typeface="Noto Sans TC"/>
              </a:rPr>
              <a:t>醫師</a:t>
            </a:r>
            <a:endParaRPr sz="1650" b="0" dirty="0">
              <a:solidFill>
                <a:srgbClr val="5E6672"/>
              </a:solidFill>
              <a:latin typeface="微軟正黑體"/>
              <a:ea typeface="微軟正黑體"/>
              <a:cs typeface="Noto Sans TC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B6DABE7-CB91-42C4-AAF1-A9EC19FADBD3}"/>
              </a:ext>
            </a:extLst>
          </p:cNvPr>
          <p:cNvSpPr>
            <a:spLocks noGrp="1"/>
          </p:cNvSpPr>
          <p:nvPr/>
        </p:nvSpPr>
        <p:spPr>
          <a:xfrm>
            <a:off x="8743950" y="1077119"/>
            <a:ext cx="2381250" cy="1643062"/>
          </a:xfrm>
          <a:prstGeom prst="rect">
            <a:avLst/>
          </a:prstGeom>
          <a:solidFill>
            <a:srgbClr val="DCEEFF"/>
          </a:solidFill>
          <a:ln w="0">
            <a:noFill/>
            <a:prstDash val="solid"/>
          </a:ln>
        </p:spPr>
        <p:txBody>
          <a:bodyPr/>
          <a:lstStyle/>
          <a:p>
            <a:endParaRPr>
              <a:latin typeface="微軟正黑體"/>
              <a:ea typeface="微軟正黑體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16D2D72-2D92-4A67-9EBB-824F039E0267}"/>
              </a:ext>
            </a:extLst>
          </p:cNvPr>
          <p:cNvSpPr>
            <a:spLocks noGrp="1"/>
          </p:cNvSpPr>
          <p:nvPr/>
        </p:nvSpPr>
        <p:spPr>
          <a:xfrm>
            <a:off x="8743950" y="1162050"/>
            <a:ext cx="23812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1870" lnSpcReduction="10000"/>
          </a:bodyPr>
          <a:lstStyle/>
          <a:p>
            <a:pPr algn="ctr">
              <a:buNone/>
              <a:defRPr sz="6150" b="1">
                <a:solidFill>
                  <a:srgbClr val="3D8DFF"/>
                </a:solidFill>
                <a:latin typeface="Noto Sans TC"/>
                <a:ea typeface="Noto Sans TC"/>
                <a:cs typeface="Noto Sans TC"/>
              </a:defRPr>
            </a:pPr>
            <a:r>
              <a:rPr sz="6150" b="1" dirty="0">
                <a:solidFill>
                  <a:srgbClr val="3D8DFF"/>
                </a:solidFill>
                <a:latin typeface="微軟正黑體"/>
                <a:ea typeface="微軟正黑體"/>
                <a:cs typeface="Noto Sans TC"/>
              </a:rPr>
              <a:t>AI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99A07A4-5A4F-42EE-B72F-A5FFFB52C20B}"/>
              </a:ext>
            </a:extLst>
          </p:cNvPr>
          <p:cNvSpPr>
            <a:spLocks noGrp="1"/>
          </p:cNvSpPr>
          <p:nvPr/>
        </p:nvSpPr>
        <p:spPr>
          <a:xfrm>
            <a:off x="8743950" y="1997869"/>
            <a:ext cx="2381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buNone/>
              <a:defRPr sz="1800" b="1">
                <a:solidFill>
                  <a:srgbClr val="0A0A0A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 dirty="0" err="1">
                <a:solidFill>
                  <a:srgbClr val="0A0A0A"/>
                </a:solidFill>
                <a:latin typeface="微軟正黑體"/>
                <a:ea typeface="微軟正黑體"/>
                <a:cs typeface="Noto Sans TC"/>
              </a:rPr>
              <a:t>實作</a:t>
            </a:r>
            <a:r>
              <a:rPr sz="1800" b="1" dirty="0">
                <a:solidFill>
                  <a:srgbClr val="0A0A0A"/>
                </a:solidFill>
                <a:latin typeface="微軟正黑體"/>
                <a:ea typeface="微軟正黑體"/>
                <a:cs typeface="Noto Sans TC"/>
              </a:rPr>
              <a:t> × </a:t>
            </a:r>
            <a:r>
              <a:rPr sz="1800" b="1" dirty="0" err="1">
                <a:solidFill>
                  <a:srgbClr val="0A0A0A"/>
                </a:solidFill>
                <a:latin typeface="微軟正黑體"/>
                <a:ea typeface="微軟正黑體"/>
                <a:cs typeface="Noto Sans TC"/>
              </a:rPr>
              <a:t>分享</a:t>
            </a:r>
            <a:endParaRPr sz="1800" b="1" dirty="0">
              <a:solidFill>
                <a:srgbClr val="0A0A0A"/>
              </a:solidFill>
              <a:latin typeface="微軟正黑體"/>
              <a:ea typeface="微軟正黑體"/>
              <a:cs typeface="Noto Sans TC"/>
            </a:endParaRPr>
          </a:p>
        </p:txBody>
      </p:sp>
      <p:sp>
        <p:nvSpPr>
          <p:cNvPr id="10" name="課程頁尾-大臺中診所協會 胡哲禎醫師">
            <a:extLst>
              <a:ext uri="{FF2B5EF4-FFF2-40B4-BE49-F238E27FC236}">
                <a16:creationId xmlns:a16="http://schemas.microsoft.com/office/drawing/2014/main" id="{CBED02C5-0AC4-4A33-AAFE-AACD39579195}"/>
              </a:ext>
            </a:extLst>
          </p:cNvPr>
          <p:cNvSpPr>
            <a:spLocks noGrp="1"/>
          </p:cNvSpPr>
          <p:nvPr/>
        </p:nvSpPr>
        <p:spPr>
          <a:xfrm>
            <a:off x="457200" y="640080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825" b="0">
                <a:solidFill>
                  <a:srgbClr val="6B7280"/>
                </a:solidFill>
                <a:latin typeface="Noto Sans TC"/>
                <a:ea typeface="Noto Sans TC"/>
                <a:cs typeface="Noto Sans TC"/>
              </a:defRPr>
            </a:pPr>
            <a:r>
              <a:rPr sz="1300" b="0" dirty="0" err="1">
                <a:solidFill>
                  <a:srgbClr val="6B7280"/>
                </a:solidFill>
                <a:latin typeface="微軟正黑體"/>
                <a:ea typeface="微軟正黑體"/>
                <a:cs typeface="Noto Sans TC"/>
              </a:rPr>
              <a:t>大台中診所協會</a:t>
            </a:r>
            <a:endParaRPr sz="1300" b="0" dirty="0">
              <a:solidFill>
                <a:srgbClr val="6B7280"/>
              </a:solidFill>
              <a:latin typeface="微軟正黑體"/>
              <a:ea typeface="微軟正黑體"/>
              <a:cs typeface="Noto Sans TC"/>
            </a:endParaRPr>
          </a:p>
        </p:txBody>
      </p:sp>
      <p:sp>
        <p:nvSpPr>
          <p:cNvPr id="11" name="課程頁尾-2026-08-23">
            <a:extLst>
              <a:ext uri="{FF2B5EF4-FFF2-40B4-BE49-F238E27FC236}">
                <a16:creationId xmlns:a16="http://schemas.microsoft.com/office/drawing/2014/main" id="{C73E9B65-56C3-4247-91AA-3D059D88A89A}"/>
              </a:ext>
            </a:extLst>
          </p:cNvPr>
          <p:cNvSpPr>
            <a:spLocks noGrp="1"/>
          </p:cNvSpPr>
          <p:nvPr/>
        </p:nvSpPr>
        <p:spPr>
          <a:xfrm>
            <a:off x="4953000" y="640080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825" b="0">
                <a:solidFill>
                  <a:srgbClr val="6B7280"/>
                </a:solidFill>
                <a:latin typeface="Noto Sans TC"/>
                <a:ea typeface="Noto Sans TC"/>
                <a:cs typeface="Noto Sans TC"/>
              </a:defRPr>
            </a:pPr>
            <a:r>
              <a:rPr sz="1300" b="0">
                <a:solidFill>
                  <a:srgbClr val="6B7280"/>
                </a:solidFill>
                <a:latin typeface="微軟正黑體"/>
                <a:ea typeface="微軟正黑體"/>
                <a:cs typeface="Noto Sans TC"/>
              </a:rPr>
              <a:t>2026-08-23</a:t>
            </a:r>
          </a:p>
        </p:txBody>
      </p:sp>
      <p:pic>
        <p:nvPicPr>
          <p:cNvPr id="13" name="圖片 12" descr="ChatGPT Logo PNG Vector (PDF) Free Download">
            <a:extLst>
              <a:ext uri="{FF2B5EF4-FFF2-40B4-BE49-F238E27FC236}">
                <a16:creationId xmlns:a16="http://schemas.microsoft.com/office/drawing/2014/main" id="{A0C8BD37-3290-3915-59C2-F6B6F0FA35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38700" y="958850"/>
            <a:ext cx="1066800" cy="939800"/>
          </a:xfrm>
          <a:prstGeom prst="rect">
            <a:avLst/>
          </a:prstGeom>
        </p:spPr>
      </p:pic>
      <p:pic>
        <p:nvPicPr>
          <p:cNvPr id="15" name="圖片 14" descr="Claude AI logo transparent PNG - StickPNG">
            <a:extLst>
              <a:ext uri="{FF2B5EF4-FFF2-40B4-BE49-F238E27FC236}">
                <a16:creationId xmlns:a16="http://schemas.microsoft.com/office/drawing/2014/main" id="{F498EB21-29C4-729E-4949-DAC7FB8DD29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39068" y="2009774"/>
            <a:ext cx="1756001" cy="1756001"/>
          </a:xfrm>
          <a:prstGeom prst="rect">
            <a:avLst/>
          </a:prstGeom>
        </p:spPr>
      </p:pic>
      <p:pic>
        <p:nvPicPr>
          <p:cNvPr id="16" name="圖片 15" descr="Google Gemini's New Logo. A Fresh Visual Identity for a ...">
            <a:extLst>
              <a:ext uri="{FF2B5EF4-FFF2-40B4-BE49-F238E27FC236}">
                <a16:creationId xmlns:a16="http://schemas.microsoft.com/office/drawing/2014/main" id="{4969ED55-1DFE-558B-A530-C3CC3186B51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96966" y="3300411"/>
            <a:ext cx="1994586" cy="1419225"/>
          </a:xfrm>
          <a:prstGeom prst="rect">
            <a:avLst/>
          </a:prstGeom>
        </p:spPr>
      </p:pic>
      <p:pic>
        <p:nvPicPr>
          <p:cNvPr id="17" name="圖片 16" descr="Grok Logo and symbol, meaning, history, PNG, brand">
            <a:extLst>
              <a:ext uri="{FF2B5EF4-FFF2-40B4-BE49-F238E27FC236}">
                <a16:creationId xmlns:a16="http://schemas.microsoft.com/office/drawing/2014/main" id="{52078597-0D47-0082-6C51-D41F359ECDD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00447" y="4698267"/>
            <a:ext cx="1791105" cy="1004766"/>
          </a:xfrm>
          <a:prstGeom prst="rect">
            <a:avLst/>
          </a:prstGeom>
        </p:spPr>
      </p:pic>
      <p:pic>
        <p:nvPicPr>
          <p:cNvPr id="18" name="圖片 17" descr="OpenClaw Docs">
            <a:extLst>
              <a:ext uri="{FF2B5EF4-FFF2-40B4-BE49-F238E27FC236}">
                <a16:creationId xmlns:a16="http://schemas.microsoft.com/office/drawing/2014/main" id="{E8F8409C-291D-9B2D-D54B-1F8A0070C16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37600" y="3556000"/>
            <a:ext cx="2387600" cy="838200"/>
          </a:xfrm>
          <a:prstGeom prst="rect">
            <a:avLst/>
          </a:prstGeom>
        </p:spPr>
      </p:pic>
      <p:pic>
        <p:nvPicPr>
          <p:cNvPr id="19" name="圖片 18" descr="Hermes Agent Icon &amp; Logo (selfh.st) | Dashboard Icons &amp; Logos">
            <a:extLst>
              <a:ext uri="{FF2B5EF4-FFF2-40B4-BE49-F238E27FC236}">
                <a16:creationId xmlns:a16="http://schemas.microsoft.com/office/drawing/2014/main" id="{DC6CE051-910E-E12B-D468-09488226AC5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45066" y="4698267"/>
            <a:ext cx="1004766" cy="1004766"/>
          </a:xfrm>
          <a:prstGeom prst="rect">
            <a:avLst/>
          </a:prstGeom>
        </p:spPr>
      </p:pic>
      <p:pic>
        <p:nvPicPr>
          <p:cNvPr id="12" name="圖片 11" descr="SpaceXAI 推出Grok Bot 測試版：每個AI 隊友都有自己的雲端電腦，全天候執行任務- 電腦王阿達">
            <a:extLst>
              <a:ext uri="{FF2B5EF4-FFF2-40B4-BE49-F238E27FC236}">
                <a16:creationId xmlns:a16="http://schemas.microsoft.com/office/drawing/2014/main" id="{84AF90F2-34D8-AC7F-EB2F-350DA9BC7EB9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23810" t="34833" r="25242" b="37190"/>
          <a:stretch>
            <a:fillRect/>
          </a:stretch>
        </p:blipFill>
        <p:spPr>
          <a:xfrm>
            <a:off x="8737600" y="2709149"/>
            <a:ext cx="2387600" cy="735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30345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0126F506-0EA7-4B2B-9D86-42964868AF1A}"/>
              </a:ext>
            </a:extLst>
          </p:cNvPr>
          <p:cNvSpPr>
            <a:spLocks noGrp="1"/>
          </p:cNvSpPr>
          <p:nvPr/>
        </p:nvSpPr>
        <p:spPr>
          <a:xfrm>
            <a:off x="457200" y="30480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7696" lnSpcReduction="10000"/>
          </a:bodyPr>
          <a:lstStyle/>
          <a:p>
            <a:pPr algn="l">
              <a:buNone/>
              <a:defRPr sz="1275" b="1">
                <a:solidFill>
                  <a:srgbClr val="5E6672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1">
                <a:solidFill>
                  <a:srgbClr val="5E6672"/>
                </a:solidFill>
                <a:latin typeface="微軟正黑體"/>
                <a:ea typeface="微軟正黑體"/>
                <a:cs typeface="Noto Sans TC"/>
              </a:rPr>
              <a:t>講者簡介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A6B0D18-7662-4907-B50B-2EACA208D1DC}"/>
              </a:ext>
            </a:extLst>
          </p:cNvPr>
          <p:cNvSpPr>
            <a:spLocks noGrp="1"/>
          </p:cNvSpPr>
          <p:nvPr/>
        </p:nvSpPr>
        <p:spPr>
          <a:xfrm>
            <a:off x="457200" y="723900"/>
            <a:ext cx="109537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3000" b="1">
                <a:solidFill>
                  <a:srgbClr val="0A0A0A"/>
                </a:solidFill>
                <a:latin typeface="Noto Sans TC"/>
                <a:ea typeface="Noto Sans TC"/>
                <a:cs typeface="Noto Sans TC"/>
              </a:defRPr>
            </a:pPr>
            <a:r>
              <a:rPr sz="3000" b="1">
                <a:solidFill>
                  <a:srgbClr val="0A0A0A"/>
                </a:solidFill>
                <a:latin typeface="微軟正黑體"/>
                <a:ea typeface="微軟正黑體"/>
                <a:cs typeface="Noto Sans TC"/>
              </a:rPr>
              <a:t>講者簡介｜胡哲禎醫師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FB5637A-CE4D-41A3-BB95-EFCBFC8ED9AB}"/>
              </a:ext>
            </a:extLst>
          </p:cNvPr>
          <p:cNvSpPr>
            <a:spLocks noGrp="1"/>
          </p:cNvSpPr>
          <p:nvPr/>
        </p:nvSpPr>
        <p:spPr>
          <a:xfrm>
            <a:off x="457200" y="1495425"/>
            <a:ext cx="800100" cy="47625"/>
          </a:xfrm>
          <a:prstGeom prst="rect">
            <a:avLst/>
          </a:prstGeom>
          <a:solidFill>
            <a:srgbClr val="1F8A70"/>
          </a:solidFill>
          <a:ln w="0">
            <a:noFill/>
            <a:prstDash val="solid"/>
          </a:ln>
        </p:spPr>
        <p:txBody>
          <a:bodyPr/>
          <a:lstStyle/>
          <a:p>
            <a:endParaRPr>
              <a:latin typeface="微軟正黑體"/>
              <a:ea typeface="微軟正黑體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78DB9F7-7472-4097-BC85-211C9241E1DC}"/>
              </a:ext>
            </a:extLst>
          </p:cNvPr>
          <p:cNvSpPr>
            <a:spLocks noGrp="1"/>
          </p:cNvSpPr>
          <p:nvPr/>
        </p:nvSpPr>
        <p:spPr>
          <a:xfrm>
            <a:off x="457200" y="1371600"/>
            <a:ext cx="3429000" cy="4851400"/>
          </a:xfrm>
          <a:prstGeom prst="rect">
            <a:avLst/>
          </a:prstGeom>
          <a:blipFill>
            <a:blip r:embed="rId3"/>
            <a:stretch>
              <a:fillRect l="-52176" r="-50722"/>
            </a:stretch>
          </a:blipFill>
          <a:ln w="0">
            <a:noFill/>
            <a:prstDash val="solid"/>
          </a:ln>
        </p:spPr>
        <p:txBody>
          <a:bodyPr/>
          <a:lstStyle/>
          <a:p>
            <a:endParaRPr>
              <a:latin typeface="微軟正黑體"/>
              <a:ea typeface="微軟正黑體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3F65DE1-A0BA-45D0-91C2-2920E2E9E430}"/>
              </a:ext>
            </a:extLst>
          </p:cNvPr>
          <p:cNvSpPr>
            <a:spLocks noGrp="1"/>
          </p:cNvSpPr>
          <p:nvPr/>
        </p:nvSpPr>
        <p:spPr>
          <a:xfrm>
            <a:off x="11144250" y="6438900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r">
              <a:buNone/>
              <a:defRPr sz="975" b="0">
                <a:solidFill>
                  <a:srgbClr val="5E6672"/>
                </a:solidFill>
                <a:latin typeface="Noto Sans TC"/>
                <a:ea typeface="Noto Sans TC"/>
                <a:cs typeface="Noto Sans TC"/>
              </a:defRPr>
            </a:pPr>
            <a:r>
              <a:rPr sz="1300" b="0">
                <a:solidFill>
                  <a:srgbClr val="5E6672"/>
                </a:solidFill>
                <a:latin typeface="微軟正黑體"/>
                <a:ea typeface="微軟正黑體"/>
                <a:cs typeface="Noto Sans TC"/>
              </a:rPr>
              <a:t>02</a:t>
            </a:r>
          </a:p>
        </p:txBody>
      </p:sp>
      <p:sp>
        <p:nvSpPr>
          <p:cNvPr id="12" name="課程頁尾-大臺中診所協會 胡哲禎醫師">
            <a:extLst>
              <a:ext uri="{FF2B5EF4-FFF2-40B4-BE49-F238E27FC236}">
                <a16:creationId xmlns:a16="http://schemas.microsoft.com/office/drawing/2014/main" id="{6F1B8BA1-9212-47BA-A341-FB33DC632310}"/>
              </a:ext>
            </a:extLst>
          </p:cNvPr>
          <p:cNvSpPr>
            <a:spLocks noGrp="1"/>
          </p:cNvSpPr>
          <p:nvPr/>
        </p:nvSpPr>
        <p:spPr>
          <a:xfrm>
            <a:off x="457200" y="640080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825" b="0">
                <a:solidFill>
                  <a:srgbClr val="6B7280"/>
                </a:solidFill>
                <a:latin typeface="Noto Sans TC"/>
                <a:ea typeface="Noto Sans TC"/>
                <a:cs typeface="Noto Sans TC"/>
              </a:defRPr>
            </a:pPr>
            <a:r>
              <a:rPr sz="1300" b="0">
                <a:solidFill>
                  <a:srgbClr val="6B7280"/>
                </a:solidFill>
                <a:latin typeface="微軟正黑體"/>
                <a:ea typeface="微軟正黑體"/>
                <a:cs typeface="Noto Sans TC"/>
              </a:rPr>
              <a:t>大台中診所協會 胡哲禎醫師</a:t>
            </a:r>
          </a:p>
        </p:txBody>
      </p:sp>
      <p:sp>
        <p:nvSpPr>
          <p:cNvPr id="13" name="課程頁尾-2026-08-23">
            <a:extLst>
              <a:ext uri="{FF2B5EF4-FFF2-40B4-BE49-F238E27FC236}">
                <a16:creationId xmlns:a16="http://schemas.microsoft.com/office/drawing/2014/main" id="{07049A93-46B2-42AE-93ED-9419F1CB2D00}"/>
              </a:ext>
            </a:extLst>
          </p:cNvPr>
          <p:cNvSpPr>
            <a:spLocks noGrp="1"/>
          </p:cNvSpPr>
          <p:nvPr/>
        </p:nvSpPr>
        <p:spPr>
          <a:xfrm>
            <a:off x="4953000" y="640080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825" b="0">
                <a:solidFill>
                  <a:srgbClr val="6B7280"/>
                </a:solidFill>
                <a:latin typeface="Noto Sans TC"/>
                <a:ea typeface="Noto Sans TC"/>
                <a:cs typeface="Noto Sans TC"/>
              </a:defRPr>
            </a:pPr>
            <a:r>
              <a:rPr sz="1300" b="0">
                <a:solidFill>
                  <a:srgbClr val="6B7280"/>
                </a:solidFill>
                <a:latin typeface="微軟正黑體"/>
                <a:ea typeface="微軟正黑體"/>
                <a:cs typeface="Noto Sans TC"/>
              </a:rPr>
              <a:t>2026-08-23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F44328D-A725-7BAA-91C8-2A8831997F53}"/>
              </a:ext>
            </a:extLst>
          </p:cNvPr>
          <p:cNvSpPr>
            <a:spLocks noGrp="1"/>
          </p:cNvSpPr>
          <p:nvPr/>
        </p:nvSpPr>
        <p:spPr>
          <a:xfrm>
            <a:off x="4191000" y="1397000"/>
            <a:ext cx="7556500" cy="2540000"/>
          </a:xfrm>
          <a:prstGeom prst="rect">
            <a:avLst/>
          </a:prstGeom>
          <a:solidFill>
            <a:srgbClr val="EEF1F4"/>
          </a:solidFill>
          <a:ln w="0">
            <a:noFill/>
            <a:prstDash val="solid"/>
          </a:ln>
        </p:spPr>
        <p:txBody>
          <a:bodyPr/>
          <a:lstStyle/>
          <a:p>
            <a:endParaRPr>
              <a:latin typeface="微軟正黑體"/>
              <a:ea typeface="微軟正黑體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E34B09A-45BC-1824-F04C-11AEE6B99320}"/>
              </a:ext>
            </a:extLst>
          </p:cNvPr>
          <p:cNvSpPr>
            <a:spLocks noGrp="1"/>
          </p:cNvSpPr>
          <p:nvPr/>
        </p:nvSpPr>
        <p:spPr>
          <a:xfrm>
            <a:off x="4191000" y="4089400"/>
            <a:ext cx="7556500" cy="2133600"/>
          </a:xfrm>
          <a:prstGeom prst="rect">
            <a:avLst/>
          </a:prstGeom>
          <a:solidFill>
            <a:srgbClr val="DFF3ED"/>
          </a:solidFill>
          <a:ln w="0">
            <a:noFill/>
            <a:prstDash val="solid"/>
          </a:ln>
        </p:spPr>
        <p:txBody>
          <a:bodyPr/>
          <a:lstStyle/>
          <a:p>
            <a:endParaRPr>
              <a:latin typeface="微軟正黑體"/>
              <a:ea typeface="微軟正黑體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0D89D42-AF6B-F3EA-E131-E4C863A72712}"/>
              </a:ext>
            </a:extLst>
          </p:cNvPr>
          <p:cNvSpPr>
            <a:spLocks noGrp="1"/>
          </p:cNvSpPr>
          <p:nvPr/>
        </p:nvSpPr>
        <p:spPr>
          <a:xfrm>
            <a:off x="4495800" y="1600200"/>
            <a:ext cx="6946900" cy="406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lnSpcReduction="10000"/>
          </a:bodyPr>
          <a:lstStyle/>
          <a:p>
            <a:pPr algn="l">
              <a:buNone/>
              <a:defRPr sz="2175" b="1">
                <a:solidFill>
                  <a:srgbClr val="0A0A0A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1">
                <a:solidFill>
                  <a:srgbClr val="0A0A0A"/>
                </a:solidFill>
                <a:latin typeface="微軟正黑體"/>
                <a:ea typeface="微軟正黑體"/>
                <a:cs typeface="Noto Sans TC"/>
              </a:rPr>
              <a:t>學經歷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0D868E1-A31F-9062-E131-9BD639316FB4}"/>
              </a:ext>
            </a:extLst>
          </p:cNvPr>
          <p:cNvSpPr>
            <a:spLocks noGrp="1"/>
          </p:cNvSpPr>
          <p:nvPr/>
        </p:nvSpPr>
        <p:spPr>
          <a:xfrm>
            <a:off x="4495800" y="2082800"/>
            <a:ext cx="6946900" cy="1778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lnSpc>
                <a:spcPts val="2900"/>
              </a:lnSpc>
              <a:buNone/>
            </a:pPr>
            <a:r>
              <a:rPr lang="zh-TW" sz="2000" b="0" dirty="0">
                <a:solidFill>
                  <a:srgbClr val="5E6672"/>
                </a:solidFill>
                <a:latin typeface="微軟正黑體"/>
                <a:ea typeface="微軟正黑體"/>
                <a:cs typeface="Noto Sans TC"/>
              </a:rPr>
              <a:t>• 中山醫學大學醫學系畢業</a:t>
            </a:r>
          </a:p>
          <a:p>
            <a:pPr algn="l">
              <a:lnSpc>
                <a:spcPts val="2900"/>
              </a:lnSpc>
              <a:buNone/>
            </a:pPr>
            <a:r>
              <a:rPr lang="zh-TW" sz="2000" b="0" dirty="0">
                <a:solidFill>
                  <a:srgbClr val="5E6672"/>
                </a:solidFill>
                <a:latin typeface="微軟正黑體"/>
                <a:ea typeface="微軟正黑體"/>
                <a:cs typeface="Noto Sans TC"/>
              </a:rPr>
              <a:t>• 美國約翰霍普金斯大學公共衛生醫務管理碩士</a:t>
            </a:r>
          </a:p>
          <a:p>
            <a:pPr algn="l">
              <a:lnSpc>
                <a:spcPts val="2900"/>
              </a:lnSpc>
              <a:buNone/>
            </a:pPr>
            <a:r>
              <a:rPr lang="zh-TW" sz="2000" b="0" dirty="0">
                <a:solidFill>
                  <a:srgbClr val="5E6672"/>
                </a:solidFill>
                <a:latin typeface="微軟正黑體"/>
                <a:ea typeface="微軟正黑體"/>
                <a:cs typeface="Noto Sans TC"/>
              </a:rPr>
              <a:t>• 小兒專科醫師</a:t>
            </a:r>
          </a:p>
          <a:p>
            <a:pPr algn="l">
              <a:lnSpc>
                <a:spcPts val="2900"/>
              </a:lnSpc>
              <a:buNone/>
            </a:pPr>
            <a:r>
              <a:rPr lang="zh-TW" sz="2000" b="0" dirty="0">
                <a:solidFill>
                  <a:srgbClr val="5E6672"/>
                </a:solidFill>
                <a:latin typeface="微軟正黑體"/>
                <a:ea typeface="微軟正黑體"/>
                <a:cs typeface="Noto Sans TC"/>
              </a:rPr>
              <a:t>• 禎宏診所院長</a:t>
            </a:r>
          </a:p>
          <a:p>
            <a:pPr algn="l">
              <a:lnSpc>
                <a:spcPts val="2900"/>
              </a:lnSpc>
              <a:buNone/>
            </a:pPr>
            <a:r>
              <a:rPr lang="zh-TW" sz="2000" b="0" dirty="0">
                <a:solidFill>
                  <a:srgbClr val="5E6672"/>
                </a:solidFill>
                <a:latin typeface="微軟正黑體"/>
                <a:ea typeface="微軟正黑體"/>
                <a:cs typeface="Noto Sans TC"/>
              </a:rPr>
              <a:t>• 大台中診所協會理事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F4E7A16-C322-DBA1-AE5B-2FCBDBC156DC}"/>
              </a:ext>
            </a:extLst>
          </p:cNvPr>
          <p:cNvSpPr>
            <a:spLocks noGrp="1"/>
          </p:cNvSpPr>
          <p:nvPr/>
        </p:nvSpPr>
        <p:spPr>
          <a:xfrm>
            <a:off x="4495800" y="4292600"/>
            <a:ext cx="6946900" cy="406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lnSpcReduction="10000"/>
          </a:bodyPr>
          <a:lstStyle/>
          <a:p>
            <a:pPr algn="l">
              <a:buNone/>
              <a:defRPr sz="2175" b="1">
                <a:solidFill>
                  <a:srgbClr val="1F8A70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1">
                <a:solidFill>
                  <a:srgbClr val="1F8A70"/>
                </a:solidFill>
                <a:latin typeface="微軟正黑體"/>
                <a:ea typeface="微軟正黑體"/>
                <a:cs typeface="Noto Sans TC"/>
              </a:rPr>
              <a:t>專業經驗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F07A279-4E7D-4A26-B6C9-2995F831B2FA}"/>
              </a:ext>
            </a:extLst>
          </p:cNvPr>
          <p:cNvSpPr>
            <a:spLocks noGrp="1"/>
          </p:cNvSpPr>
          <p:nvPr/>
        </p:nvSpPr>
        <p:spPr>
          <a:xfrm>
            <a:off x="4495800" y="4775200"/>
            <a:ext cx="6946900" cy="1371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9560"/>
          </a:bodyPr>
          <a:lstStyle/>
          <a:p>
            <a:pPr algn="l">
              <a:buNone/>
              <a:defRPr sz="1800" b="0">
                <a:solidFill>
                  <a:srgbClr val="0A0A0A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0" dirty="0">
                <a:solidFill>
                  <a:srgbClr val="0A0A0A"/>
                </a:solidFill>
                <a:latin typeface="微軟正黑體"/>
                <a:ea typeface="微軟正黑體"/>
                <a:cs typeface="Noto Sans TC"/>
              </a:rPr>
              <a:t>• </a:t>
            </a:r>
            <a:r>
              <a:rPr sz="1800" b="0" dirty="0" err="1">
                <a:solidFill>
                  <a:srgbClr val="0A0A0A"/>
                </a:solidFill>
                <a:latin typeface="微軟正黑體"/>
                <a:ea typeface="微軟正黑體"/>
                <a:cs typeface="Noto Sans TC"/>
              </a:rPr>
              <a:t>熟練使用</a:t>
            </a:r>
            <a:r>
              <a:rPr sz="1800" b="0" dirty="0">
                <a:solidFill>
                  <a:srgbClr val="0A0A0A"/>
                </a:solidFill>
                <a:latin typeface="微軟正黑體"/>
                <a:ea typeface="微軟正黑體"/>
                <a:cs typeface="Noto Sans TC"/>
              </a:rPr>
              <a:t> </a:t>
            </a:r>
            <a:r>
              <a:rPr sz="1800" b="0" dirty="0" err="1">
                <a:solidFill>
                  <a:srgbClr val="0A0A0A"/>
                </a:solidFill>
                <a:latin typeface="微軟正黑體"/>
                <a:ea typeface="微軟正黑體"/>
                <a:cs typeface="Noto Sans TC"/>
              </a:rPr>
              <a:t>ChatGPT、Claude、Gemini</a:t>
            </a:r>
            <a:r>
              <a:rPr sz="1800" b="0" dirty="0">
                <a:solidFill>
                  <a:srgbClr val="0A0A0A"/>
                </a:solidFill>
                <a:latin typeface="微軟正黑體"/>
                <a:ea typeface="微軟正黑體"/>
                <a:cs typeface="Noto Sans TC"/>
              </a:rPr>
              <a:t> </a:t>
            </a:r>
            <a:r>
              <a:rPr sz="1800" b="0" dirty="0" err="1">
                <a:solidFill>
                  <a:srgbClr val="0A0A0A"/>
                </a:solidFill>
                <a:latin typeface="微軟正黑體"/>
                <a:ea typeface="微軟正黑體"/>
                <a:cs typeface="Noto Sans TC"/>
              </a:rPr>
              <a:t>等主流</a:t>
            </a:r>
            <a:r>
              <a:rPr sz="1800" b="0" dirty="0">
                <a:solidFill>
                  <a:srgbClr val="0A0A0A"/>
                </a:solidFill>
                <a:latin typeface="微軟正黑體"/>
                <a:ea typeface="微軟正黑體"/>
                <a:cs typeface="Noto Sans TC"/>
              </a:rPr>
              <a:t> AI </a:t>
            </a:r>
            <a:r>
              <a:rPr sz="1800" b="0" dirty="0" err="1">
                <a:solidFill>
                  <a:srgbClr val="0A0A0A"/>
                </a:solidFill>
                <a:latin typeface="微軟正黑體"/>
                <a:ea typeface="微軟正黑體"/>
                <a:cs typeface="Noto Sans TC"/>
              </a:rPr>
              <a:t>應用程式</a:t>
            </a:r>
            <a:endParaRPr sz="1800" b="0" dirty="0">
              <a:solidFill>
                <a:srgbClr val="0A0A0A"/>
              </a:solidFill>
              <a:latin typeface="微軟正黑體"/>
              <a:ea typeface="微軟正黑體"/>
              <a:cs typeface="Noto Sans TC"/>
            </a:endParaRPr>
          </a:p>
          <a:p>
            <a:pPr>
              <a:defRPr sz="1800" b="0">
                <a:solidFill>
                  <a:srgbClr val="0A0A0A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0" dirty="0">
                <a:solidFill>
                  <a:srgbClr val="0A0A0A"/>
                </a:solidFill>
                <a:latin typeface="微軟正黑體"/>
                <a:ea typeface="微軟正黑體"/>
                <a:cs typeface="Noto Sans TC"/>
              </a:rPr>
              <a:t>• </a:t>
            </a:r>
            <a:r>
              <a:rPr sz="1800" b="0" dirty="0" err="1">
                <a:solidFill>
                  <a:srgbClr val="0A0A0A"/>
                </a:solidFill>
                <a:latin typeface="微軟正黑體"/>
                <a:ea typeface="微軟正黑體"/>
                <a:cs typeface="Noto Sans TC"/>
              </a:rPr>
              <a:t>架設</a:t>
            </a:r>
            <a:r>
              <a:rPr sz="1800" b="0" dirty="0">
                <a:solidFill>
                  <a:srgbClr val="0A0A0A"/>
                </a:solidFill>
                <a:latin typeface="微軟正黑體"/>
                <a:ea typeface="微軟正黑體"/>
                <a:cs typeface="Noto Sans TC"/>
              </a:rPr>
              <a:t> OpenClaw</a:t>
            </a:r>
            <a:r>
              <a:rPr lang="zh-TW" altLang="en-US" sz="1800" b="0" dirty="0">
                <a:solidFill>
                  <a:srgbClr val="0A0A0A"/>
                </a:solidFill>
                <a:latin typeface="微軟正黑體"/>
                <a:ea typeface="微軟正黑體"/>
                <a:cs typeface="Noto Sans TC"/>
              </a:rPr>
              <a:t>、</a:t>
            </a:r>
            <a:r>
              <a:rPr lang="en" altLang="zh-TW" dirty="0">
                <a:solidFill>
                  <a:srgbClr val="0A0A0A"/>
                </a:solidFill>
                <a:latin typeface="微軟正黑體"/>
                <a:ea typeface="微軟正黑體"/>
                <a:cs typeface="Noto Sans TC"/>
              </a:rPr>
              <a:t>Hermes Agent</a:t>
            </a:r>
            <a:endParaRPr sz="1800" b="0" dirty="0">
              <a:solidFill>
                <a:srgbClr val="0A0A0A"/>
              </a:solidFill>
              <a:latin typeface="微軟正黑體"/>
              <a:ea typeface="微軟正黑體"/>
              <a:cs typeface="Noto Sans TC"/>
            </a:endParaRPr>
          </a:p>
          <a:p>
            <a:pPr>
              <a:defRPr sz="1800" b="0">
                <a:solidFill>
                  <a:srgbClr val="0A0A0A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0" dirty="0">
                <a:solidFill>
                  <a:srgbClr val="0A0A0A"/>
                </a:solidFill>
                <a:latin typeface="微軟正黑體"/>
                <a:ea typeface="微軟正黑體"/>
                <a:cs typeface="Noto Sans TC"/>
              </a:rPr>
              <a:t>• Claude Code</a:t>
            </a:r>
            <a:r>
              <a:rPr lang="zh-TW" altLang="en-US" dirty="0">
                <a:solidFill>
                  <a:srgbClr val="0A0A0A"/>
                </a:solidFill>
                <a:latin typeface="微軟正黑體"/>
                <a:ea typeface="微軟正黑體"/>
                <a:cs typeface="Noto Sans TC"/>
              </a:rPr>
              <a:t>應用程式開發</a:t>
            </a:r>
            <a:endParaRPr sz="1800" b="0" dirty="0">
              <a:solidFill>
                <a:srgbClr val="0A0A0A"/>
              </a:solidFill>
              <a:latin typeface="微軟正黑體"/>
              <a:ea typeface="微軟正黑體"/>
              <a:cs typeface="Noto Sans TC"/>
            </a:endParaRPr>
          </a:p>
          <a:p>
            <a:pPr>
              <a:defRPr sz="1800" b="0">
                <a:solidFill>
                  <a:srgbClr val="0A0A0A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0" dirty="0">
                <a:solidFill>
                  <a:srgbClr val="0A0A0A"/>
                </a:solidFill>
                <a:latin typeface="微軟正黑體"/>
                <a:ea typeface="微軟正黑體"/>
                <a:cs typeface="Noto Sans TC"/>
              </a:rPr>
              <a:t>• </a:t>
            </a:r>
            <a:r>
              <a:rPr sz="1800" b="0" dirty="0" err="1">
                <a:solidFill>
                  <a:srgbClr val="0A0A0A"/>
                </a:solidFill>
                <a:latin typeface="微軟正黑體"/>
                <a:ea typeface="微軟正黑體"/>
                <a:cs typeface="Noto Sans TC"/>
              </a:rPr>
              <a:t>企業部署</a:t>
            </a:r>
            <a:r>
              <a:rPr lang="zh-TW" altLang="en-US" dirty="0">
                <a:solidFill>
                  <a:srgbClr val="0A0A0A"/>
                </a:solidFill>
                <a:latin typeface="微軟正黑體"/>
                <a:ea typeface="微軟正黑體"/>
                <a:cs typeface="Noto Sans TC"/>
              </a:rPr>
              <a:t>多 </a:t>
            </a:r>
            <a:r>
              <a:rPr lang="en" dirty="0">
                <a:solidFill>
                  <a:srgbClr val="0A0A0A"/>
                </a:solidFill>
                <a:latin typeface="微軟正黑體"/>
                <a:ea typeface="微軟正黑體"/>
                <a:cs typeface="Noto Sans TC"/>
              </a:rPr>
              <a:t>AI Agent </a:t>
            </a:r>
            <a:r>
              <a:rPr lang="zh-TW" altLang="en-US" dirty="0">
                <a:solidFill>
                  <a:srgbClr val="0A0A0A"/>
                </a:solidFill>
                <a:latin typeface="微軟正黑體"/>
                <a:ea typeface="微軟正黑體"/>
                <a:cs typeface="Noto Sans TC"/>
              </a:rPr>
              <a:t>協作</a:t>
            </a:r>
            <a:r>
              <a:rPr lang="en-US" altLang="zh-TW" dirty="0">
                <a:solidFill>
                  <a:srgbClr val="0A0A0A"/>
                </a:solidFill>
                <a:latin typeface="微軟正黑體"/>
                <a:ea typeface="微軟正黑體"/>
                <a:cs typeface="Noto Sans TC"/>
              </a:rPr>
              <a:t>workflow</a:t>
            </a:r>
            <a:endParaRPr sz="1800" b="0" dirty="0">
              <a:solidFill>
                <a:srgbClr val="0A0A0A"/>
              </a:solidFill>
              <a:latin typeface="微軟正黑體"/>
              <a:ea typeface="微軟正黑體"/>
              <a:cs typeface="Noto Sans TC"/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8E79D42D-C0F6-4C9B-E706-050E3D2B5C3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55101" y="511175"/>
            <a:ext cx="1619250" cy="1619250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1A8EE001-79F6-725A-1719-7CA908C1D86D}"/>
              </a:ext>
            </a:extLst>
          </p:cNvPr>
          <p:cNvSpPr txBox="1"/>
          <p:nvPr/>
        </p:nvSpPr>
        <p:spPr>
          <a:xfrm>
            <a:off x="7197145" y="523562"/>
            <a:ext cx="249474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zh-TW" altLang="en-US" sz="2000" b="1" dirty="0">
                <a:latin typeface="微軟正黑體"/>
                <a:ea typeface="微軟正黑體"/>
              </a:rPr>
              <a:t>醫療診所 </a:t>
            </a:r>
            <a:r>
              <a:rPr kumimoji="1" lang="en" altLang="zh-TW" sz="2000" b="1" dirty="0">
                <a:latin typeface="微軟正黑體"/>
                <a:ea typeface="微軟正黑體"/>
              </a:rPr>
              <a:t>AI </a:t>
            </a:r>
            <a:r>
              <a:rPr kumimoji="1" lang="zh-TW" altLang="en-US" sz="2000" b="1" dirty="0">
                <a:latin typeface="微軟正黑體"/>
                <a:ea typeface="微軟正黑體"/>
              </a:rPr>
              <a:t>應用</a:t>
            </a:r>
            <a:endParaRPr kumimoji="1" lang="en-US" altLang="zh-TW" sz="2000" b="1" dirty="0">
              <a:latin typeface="微軟正黑體"/>
              <a:ea typeface="微軟正黑體"/>
            </a:endParaRPr>
          </a:p>
          <a:p>
            <a:pPr algn="r"/>
            <a:r>
              <a:rPr kumimoji="1" lang="en-US" altLang="zh-TW" sz="2000" b="1" dirty="0">
                <a:latin typeface="微軟正黑體"/>
                <a:ea typeface="微軟正黑體"/>
              </a:rPr>
              <a:t>FB</a:t>
            </a:r>
            <a:r>
              <a:rPr kumimoji="1" lang="zh-TW" altLang="en-US" sz="2000" b="1" dirty="0">
                <a:latin typeface="微軟正黑體"/>
                <a:ea typeface="微軟正黑體"/>
              </a:rPr>
              <a:t>社團</a:t>
            </a:r>
          </a:p>
        </p:txBody>
      </p:sp>
    </p:spTree>
    <p:extLst>
      <p:ext uri="{BB962C8B-B14F-4D97-AF65-F5344CB8AC3E}">
        <p14:creationId xmlns:p14="http://schemas.microsoft.com/office/powerpoint/2010/main" val="22393068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E2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/>
              <a:ea typeface="微軟正黑體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E2841"/>
                </a:solidFill>
                <a:latin typeface="微軟正黑體"/>
                <a:ea typeface="微軟正黑體"/>
              </a:rPr>
              <a:t>今天的課｜帶走兩條會做的流程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0E2841"/>
                </a:solidFill>
                <a:latin typeface="微軟正黑體"/>
                <a:ea typeface="微軟正黑體"/>
              </a:rPr>
              <a:t>今天帶走兩項成果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17320"/>
            <a:ext cx="5349240" cy="39776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/>
              <a:ea typeface="微軟正黑體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5349240" cy="73152"/>
          </a:xfrm>
          <a:prstGeom prst="rect">
            <a:avLst/>
          </a:prstGeom>
          <a:solidFill>
            <a:srgbClr val="3A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/>
              <a:ea typeface="微軟正黑體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46634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3A6B8A"/>
                </a:solidFill>
                <a:latin typeface="微軟正黑體"/>
                <a:ea typeface="微軟正黑體"/>
              </a:rPr>
              <a:t>第一段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94560"/>
            <a:ext cx="466344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0E2841"/>
                </a:solidFill>
                <a:latin typeface="微軟正黑體"/>
                <a:ea typeface="微軟正黑體"/>
              </a:rPr>
              <a:t>OpenEvidence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0E2841"/>
                </a:solidFill>
                <a:latin typeface="微軟正黑體"/>
                <a:ea typeface="微軟正黑體"/>
              </a:rPr>
              <a:t>安裝與使用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675888"/>
            <a:ext cx="466344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0" dirty="0" err="1">
                <a:solidFill>
                  <a:srgbClr val="1A2A3A"/>
                </a:solidFill>
                <a:latin typeface="微軟正黑體"/>
                <a:ea typeface="微軟正黑體"/>
              </a:rPr>
              <a:t>現場跟做</a:t>
            </a:r>
            <a:r>
              <a:rPr sz="2400" b="0" dirty="0">
                <a:solidFill>
                  <a:srgbClr val="1A2A3A"/>
                </a:solidFill>
                <a:latin typeface="微軟正黑體"/>
                <a:ea typeface="微軟正黑體"/>
              </a:rPr>
              <a:t>：</a:t>
            </a:r>
            <a:endParaRPr lang="en-US" sz="2400" b="0" dirty="0">
              <a:solidFill>
                <a:srgbClr val="1A2A3A"/>
              </a:solidFill>
              <a:latin typeface="微軟正黑體"/>
              <a:ea typeface="微軟正黑體"/>
            </a:endParaRPr>
          </a:p>
          <a:p>
            <a:pPr algn="l"/>
            <a:r>
              <a:rPr sz="2400" b="0" dirty="0" err="1">
                <a:solidFill>
                  <a:srgbClr val="1A2A3A"/>
                </a:solidFill>
                <a:latin typeface="微軟正黑體"/>
                <a:ea typeface="微軟正黑體"/>
              </a:rPr>
              <a:t>問一個臨床問題、核對引用、產出衛教草稿</a:t>
            </a:r>
            <a:endParaRPr sz="2400" b="0" dirty="0">
              <a:solidFill>
                <a:srgbClr val="1A2A3A"/>
              </a:solidFill>
              <a:latin typeface="微軟正黑體"/>
              <a:ea typeface="微軟正黑體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126480" y="1417320"/>
            <a:ext cx="5349240" cy="39776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/>
              <a:ea typeface="微軟正黑體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126480" y="1417320"/>
            <a:ext cx="5349240" cy="73152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/>
              <a:ea typeface="微軟正黑體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46520" y="1737360"/>
            <a:ext cx="46634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156082"/>
                </a:solidFill>
                <a:latin typeface="微軟正黑體"/>
                <a:ea typeface="微軟正黑體"/>
              </a:rPr>
              <a:t>第二段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194560"/>
            <a:ext cx="466344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0E2841"/>
                </a:solidFill>
                <a:latin typeface="微軟正黑體"/>
                <a:ea typeface="微軟正黑體"/>
              </a:rPr>
              <a:t>健保申報檔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0E2841"/>
                </a:solidFill>
                <a:latin typeface="微軟正黑體"/>
                <a:ea typeface="微軟正黑體"/>
              </a:rPr>
              <a:t>去識別化 × ChatGPT 分析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3703320"/>
            <a:ext cx="466344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en-US" sz="2400" dirty="0" err="1">
                <a:solidFill>
                  <a:srgbClr val="1A2A3A"/>
                </a:solidFill>
                <a:latin typeface="微軟正黑體"/>
                <a:ea typeface="微軟正黑體"/>
              </a:rPr>
              <a:t>申報檔（</a:t>
            </a:r>
            <a:r>
              <a:rPr sz="2400" b="0" dirty="0" err="1">
                <a:solidFill>
                  <a:srgbClr val="1A2A3A"/>
                </a:solidFill>
                <a:latin typeface="微軟正黑體"/>
                <a:ea typeface="微軟正黑體"/>
              </a:rPr>
              <a:t>XML</a:t>
            </a:r>
            <a:r>
              <a:rPr lang="zh-TW" altLang="en-US" sz="2400" dirty="0">
                <a:solidFill>
                  <a:srgbClr val="1A2A3A"/>
                </a:solidFill>
                <a:latin typeface="微軟正黑體"/>
                <a:ea typeface="微軟正黑體"/>
              </a:rPr>
              <a:t>）</a:t>
            </a:r>
            <a:r>
              <a:rPr sz="2400" b="0" dirty="0" err="1">
                <a:solidFill>
                  <a:srgbClr val="1A2A3A"/>
                </a:solidFill>
                <a:latin typeface="微軟正黑體"/>
                <a:ea typeface="微軟正黑體"/>
              </a:rPr>
              <a:t>轉表格</a:t>
            </a:r>
            <a:r>
              <a:rPr sz="2400" b="0" dirty="0">
                <a:solidFill>
                  <a:srgbClr val="1A2A3A"/>
                </a:solidFill>
                <a:latin typeface="微軟正黑體"/>
                <a:ea typeface="微軟正黑體"/>
              </a:rPr>
              <a:t> </a:t>
            </a:r>
            <a:r>
              <a:rPr lang="zh-TW" altLang="en-US" sz="2400" b="0" dirty="0">
                <a:solidFill>
                  <a:srgbClr val="1A2A3A"/>
                </a:solidFill>
                <a:latin typeface="微軟正黑體"/>
                <a:ea typeface="微軟正黑體"/>
              </a:rPr>
              <a:t>、</a:t>
            </a:r>
            <a:r>
              <a:rPr sz="2400" b="0" dirty="0">
                <a:solidFill>
                  <a:srgbClr val="1A2A3A"/>
                </a:solidFill>
                <a:latin typeface="微軟正黑體"/>
                <a:ea typeface="微軟正黑體"/>
              </a:rPr>
              <a:t> </a:t>
            </a:r>
            <a:r>
              <a:rPr sz="2400" b="0" dirty="0" err="1">
                <a:solidFill>
                  <a:srgbClr val="1A2A3A"/>
                </a:solidFill>
                <a:latin typeface="微軟正黑體"/>
                <a:ea typeface="微軟正黑體"/>
              </a:rPr>
              <a:t>去識別</a:t>
            </a:r>
            <a:r>
              <a:rPr lang="zh-TW" altLang="en-US" sz="2400" b="0" dirty="0">
                <a:solidFill>
                  <a:srgbClr val="1A2A3A"/>
                </a:solidFill>
                <a:latin typeface="微軟正黑體"/>
                <a:ea typeface="微軟正黑體"/>
              </a:rPr>
              <a:t>化</a:t>
            </a:r>
            <a:r>
              <a:rPr sz="2400" b="0" dirty="0">
                <a:solidFill>
                  <a:srgbClr val="1A2A3A"/>
                </a:solidFill>
                <a:latin typeface="微軟正黑體"/>
                <a:ea typeface="微軟正黑體"/>
              </a:rPr>
              <a:t> </a:t>
            </a:r>
            <a:r>
              <a:rPr lang="zh-TW" altLang="en-US" sz="2400" dirty="0">
                <a:solidFill>
                  <a:srgbClr val="1A2A3A"/>
                </a:solidFill>
                <a:latin typeface="微軟正黑體"/>
                <a:ea typeface="微軟正黑體"/>
              </a:rPr>
              <a:t>、</a:t>
            </a:r>
            <a:r>
              <a:rPr sz="2400" b="0" dirty="0">
                <a:solidFill>
                  <a:srgbClr val="1A2A3A"/>
                </a:solidFill>
                <a:latin typeface="微軟正黑體"/>
                <a:ea typeface="微軟正黑體"/>
              </a:rPr>
              <a:t> </a:t>
            </a:r>
            <a:r>
              <a:rPr lang="zh-TW" altLang="en-US" sz="2400" b="0" dirty="0">
                <a:solidFill>
                  <a:srgbClr val="1A2A3A"/>
                </a:solidFill>
                <a:latin typeface="微軟正黑體"/>
                <a:ea typeface="微軟正黑體"/>
              </a:rPr>
              <a:t>產生經營分析</a:t>
            </a:r>
            <a:br>
              <a:rPr lang="en-US" altLang="zh-TW" sz="2400" b="0" dirty="0">
                <a:solidFill>
                  <a:srgbClr val="1A2A3A"/>
                </a:solidFill>
                <a:latin typeface="微軟正黑體"/>
                <a:ea typeface="微軟正黑體"/>
              </a:rPr>
            </a:br>
            <a:r>
              <a:rPr lang="zh-TW" altLang="en-US" sz="2400" b="0" dirty="0">
                <a:solidFill>
                  <a:srgbClr val="1A2A3A"/>
                </a:solidFill>
                <a:latin typeface="微軟正黑體"/>
                <a:ea typeface="微軟正黑體"/>
              </a:rPr>
              <a:t>（使</a:t>
            </a:r>
            <a:r>
              <a:rPr lang="zh-TW" altLang="en-US" sz="2400" dirty="0">
                <a:solidFill>
                  <a:srgbClr val="1A2A3A"/>
                </a:solidFill>
                <a:latin typeface="微軟正黑體"/>
                <a:ea typeface="微軟正黑體"/>
              </a:rPr>
              <a:t>用 </a:t>
            </a:r>
            <a:r>
              <a:rPr lang="en-US" altLang="zh-TW" sz="2400" dirty="0">
                <a:solidFill>
                  <a:srgbClr val="1A2A3A"/>
                </a:solidFill>
                <a:latin typeface="微軟正黑體"/>
                <a:ea typeface="微軟正黑體"/>
              </a:rPr>
              <a:t>113</a:t>
            </a:r>
            <a:r>
              <a:rPr lang="zh-TW" altLang="en-US" sz="2400" dirty="0">
                <a:solidFill>
                  <a:srgbClr val="1A2A3A"/>
                </a:solidFill>
                <a:latin typeface="微軟正黑體"/>
                <a:ea typeface="微軟正黑體"/>
              </a:rPr>
              <a:t>／</a:t>
            </a:r>
            <a:r>
              <a:rPr lang="en-US" altLang="zh-TW" sz="2400" dirty="0">
                <a:solidFill>
                  <a:srgbClr val="1A2A3A"/>
                </a:solidFill>
                <a:latin typeface="微軟正黑體"/>
                <a:ea typeface="微軟正黑體"/>
              </a:rPr>
              <a:t>114 </a:t>
            </a:r>
            <a:r>
              <a:rPr lang="zh-TW" altLang="en-US" sz="2400" dirty="0">
                <a:solidFill>
                  <a:srgbClr val="1A2A3A"/>
                </a:solidFill>
                <a:latin typeface="微軟正黑體"/>
                <a:ea typeface="微軟正黑體"/>
              </a:rPr>
              <a:t>年假資料）</a:t>
            </a:r>
            <a:endParaRPr sz="2400" b="0" dirty="0">
              <a:solidFill>
                <a:srgbClr val="1A2A3A"/>
              </a:solidFill>
              <a:latin typeface="微軟正黑體"/>
              <a:ea typeface="微軟正黑體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/>
              <a:ea typeface="微軟正黑體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0" y="6492240"/>
            <a:ext cx="12191695" cy="18288"/>
          </a:xfrm>
          <a:prstGeom prst="rect">
            <a:avLst/>
          </a:prstGeom>
          <a:solidFill>
            <a:srgbClr val="0E2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/>
              <a:ea typeface="微軟正黑體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02920" y="6547104"/>
            <a:ext cx="9144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5A6A7A"/>
                </a:solidFill>
                <a:latin typeface="微軟正黑體"/>
                <a:ea typeface="微軟正黑體"/>
              </a:rPr>
              <a:t>大台中診所協會 胡哲禎醫師 ｜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20095" y="6547104"/>
            <a:ext cx="914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5A6A7A"/>
                </a:solidFill>
                <a:latin typeface="微軟正黑體"/>
                <a:ea typeface="微軟正黑體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Card 使用規模"/>
          <p:cNvSpPr/>
          <p:nvPr/>
        </p:nvSpPr>
        <p:spPr>
          <a:xfrm>
            <a:off x="457200" y="1371600"/>
            <a:ext cx="5435600" cy="2184400"/>
          </a:xfrm>
          <a:prstGeom prst="roundRect">
            <a:avLst>
              <a:gd name="adj" fmla="val 4000"/>
            </a:avLst>
          </a:prstGeom>
          <a:solidFill>
            <a:srgbClr val="F4F8FC"/>
          </a:solidFill>
          <a:ln w="12700">
            <a:solidFill>
              <a:srgbClr val="CBDCEE"/>
            </a:solidFill>
          </a:ln>
        </p:spPr>
        <p:txBody>
          <a:bodyPr/>
          <a:lstStyle/>
          <a:p>
            <a:endParaRPr lang="zh-TW">
              <a:latin typeface="微軟正黑體"/>
              <a:ea typeface="微軟正黑體"/>
            </a:endParaRPr>
          </a:p>
        </p:txBody>
      </p:sp>
      <p:sp>
        <p:nvSpPr>
          <p:cNvPr id="201" name="Card 里程碑"/>
          <p:cNvSpPr/>
          <p:nvPr/>
        </p:nvSpPr>
        <p:spPr>
          <a:xfrm>
            <a:off x="6299200" y="1371600"/>
            <a:ext cx="5435600" cy="2184400"/>
          </a:xfrm>
          <a:prstGeom prst="roundRect">
            <a:avLst>
              <a:gd name="adj" fmla="val 4000"/>
            </a:avLst>
          </a:prstGeom>
          <a:solidFill>
            <a:srgbClr val="F4F8FC"/>
          </a:solidFill>
          <a:ln w="12700">
            <a:solidFill>
              <a:srgbClr val="CBDCEE"/>
            </a:solidFill>
          </a:ln>
        </p:spPr>
        <p:txBody>
          <a:bodyPr/>
          <a:lstStyle/>
          <a:p>
            <a:endParaRPr lang="zh-TW">
              <a:latin typeface="微軟正黑體"/>
              <a:ea typeface="微軟正黑體"/>
            </a:endParaRPr>
          </a:p>
        </p:txBody>
      </p:sp>
      <p:sp>
        <p:nvSpPr>
          <p:cNvPr id="202" name="Card 權威內容合作"/>
          <p:cNvSpPr/>
          <p:nvPr/>
        </p:nvSpPr>
        <p:spPr>
          <a:xfrm>
            <a:off x="457200" y="3810000"/>
            <a:ext cx="5435600" cy="2184400"/>
          </a:xfrm>
          <a:prstGeom prst="roundRect">
            <a:avLst>
              <a:gd name="adj" fmla="val 4000"/>
            </a:avLst>
          </a:prstGeom>
          <a:solidFill>
            <a:srgbClr val="F4F8FC"/>
          </a:solidFill>
          <a:ln w="12700">
            <a:solidFill>
              <a:srgbClr val="CBDCEE"/>
            </a:solidFill>
          </a:ln>
        </p:spPr>
        <p:txBody>
          <a:bodyPr/>
          <a:lstStyle/>
          <a:p>
            <a:endParaRPr lang="zh-TW">
              <a:latin typeface="微軟正黑體"/>
              <a:ea typeface="微軟正黑體"/>
            </a:endParaRPr>
          </a:p>
        </p:txBody>
      </p:sp>
      <p:sp>
        <p:nvSpPr>
          <p:cNvPr id="203" name="Card 主要功能"/>
          <p:cNvSpPr/>
          <p:nvPr/>
        </p:nvSpPr>
        <p:spPr>
          <a:xfrm>
            <a:off x="6299200" y="3810000"/>
            <a:ext cx="5435600" cy="2184400"/>
          </a:xfrm>
          <a:prstGeom prst="roundRect">
            <a:avLst>
              <a:gd name="adj" fmla="val 4000"/>
            </a:avLst>
          </a:prstGeom>
          <a:solidFill>
            <a:srgbClr val="F4F8FC"/>
          </a:solidFill>
          <a:ln w="12700">
            <a:solidFill>
              <a:srgbClr val="CBDCEE"/>
            </a:solidFill>
          </a:ln>
        </p:spPr>
        <p:txBody>
          <a:bodyPr/>
          <a:lstStyle/>
          <a:p>
            <a:endParaRPr lang="zh-TW" sz="2800">
              <a:latin typeface="微軟正黑體"/>
              <a:ea typeface="微軟正黑體"/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D64CC450-D019-49A2-BB99-AB488FA12A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lIns="0" tIns="0" rIns="0" bIns="0"/>
          <a:lstStyle/>
          <a:p>
            <a:pPr algn="l"/>
            <a:r>
              <a:rPr lang="zh-TW" sz="3000" b="1" dirty="0"/>
              <a:t>OpenEvidence｜美國醫師最常用的臨床 AI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686DE45-618E-04FE-8599-A70D4D3F2D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 lIns="0" tIns="0" rIns="0" bIns="0">
            <a:normAutofit/>
          </a:bodyPr>
          <a:lstStyle/>
          <a:p>
            <a:pPr marL="0" indent="0">
              <a:spcAft>
                <a:spcPts val="500"/>
              </a:spcAft>
              <a:buNone/>
            </a:pPr>
            <a:r>
              <a:rPr lang="zh-TW" sz="2400" b="1" dirty="0">
                <a:solidFill>
                  <a:srgbClr val="1B5FA8"/>
                </a:solidFill>
              </a:rPr>
              <a:t>使用規模</a:t>
            </a:r>
          </a:p>
          <a:p>
            <a:pPr marL="171450" indent="-171450">
              <a:lnSpc>
                <a:spcPct val="100000"/>
              </a:lnSpc>
              <a:spcBef>
                <a:spcPts val="500"/>
              </a:spcBef>
              <a:buFont typeface="Arial"/>
              <a:buChar char="•"/>
            </a:pPr>
            <a:r>
              <a:rPr lang="zh-TW" sz="1800" dirty="0">
                <a:solidFill>
                  <a:srgbClr val="333333"/>
                </a:solidFill>
              </a:rPr>
              <a:t>75.7 萬名醫師註冊，逾 40% 美國醫師每天登入</a:t>
            </a:r>
          </a:p>
          <a:p>
            <a:pPr marL="171450" indent="-171450">
              <a:lnSpc>
                <a:spcPct val="100000"/>
              </a:lnSpc>
              <a:spcBef>
                <a:spcPts val="500"/>
              </a:spcBef>
              <a:buFont typeface="Arial"/>
              <a:buChar char="•"/>
            </a:pPr>
            <a:r>
              <a:rPr lang="zh-TW" sz="1800" dirty="0">
                <a:solidFill>
                  <a:srgbClr val="333333"/>
                </a:solidFill>
              </a:rPr>
              <a:t>遍及 10,000+ 家醫院與醫學中心</a:t>
            </a:r>
          </a:p>
          <a:p>
            <a:pPr marL="171450" indent="-171450">
              <a:lnSpc>
                <a:spcPct val="100000"/>
              </a:lnSpc>
              <a:spcBef>
                <a:spcPts val="500"/>
              </a:spcBef>
              <a:buFont typeface="Arial"/>
              <a:buChar char="•"/>
            </a:pPr>
            <a:r>
              <a:rPr lang="zh-TW" sz="1800" dirty="0">
                <a:solidFill>
                  <a:srgbClr val="333333"/>
                </a:solidFill>
              </a:rPr>
              <a:t>每月臨床諮詢 2,000 萬次（一年前約 300 萬次）</a:t>
            </a:r>
          </a:p>
          <a:p>
            <a:pPr marL="171450" indent="-171450">
              <a:lnSpc>
                <a:spcPct val="100000"/>
              </a:lnSpc>
              <a:spcBef>
                <a:spcPts val="500"/>
              </a:spcBef>
              <a:buFont typeface="Arial"/>
              <a:buChar char="•"/>
            </a:pPr>
            <a:r>
              <a:rPr lang="zh-TW" sz="1800" dirty="0">
                <a:solidFill>
                  <a:srgbClr val="333333"/>
                </a:solidFill>
              </a:rPr>
              <a:t>2026/3/10 單日突破 100 萬次</a:t>
            </a:r>
          </a:p>
        </p:txBody>
      </p:sp>
      <p:pic>
        <p:nvPicPr>
          <p:cNvPr id="4" name="圖片 3" descr="OpenEvidence - Google Play 應用程式">
            <a:extLst>
              <a:ext uri="{FF2B5EF4-FFF2-40B4-BE49-F238E27FC236}">
                <a16:creationId xmlns:a16="http://schemas.microsoft.com/office/drawing/2014/main" id="{F679436C-F392-FBA8-EBA5-11F87FA81C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330200"/>
            <a:ext cx="711200" cy="660400"/>
          </a:xfrm>
          <a:prstGeom prst="rect">
            <a:avLst/>
          </a:prstGeom>
        </p:spPr>
      </p:pic>
      <p:sp>
        <p:nvSpPr>
          <p:cNvPr id="204" name="Text 里程碑"/>
          <p:cNvSpPr txBox="1"/>
          <p:nvPr/>
        </p:nvSpPr>
        <p:spPr>
          <a:xfrm>
            <a:off x="6527800" y="1574800"/>
            <a:ext cx="4978400" cy="10683240"/>
          </a:xfrm>
          <a:noFill/>
        </p:spPr>
        <p:txBody>
          <a:bodyPr wrap="square" lIns="0" tIns="0" rIns="0" bIns="0">
            <a:spAutoFit/>
          </a:bodyPr>
          <a:lstStyle/>
          <a:p>
            <a:pPr marL="0" indent="0">
              <a:spcAft>
                <a:spcPts val="500"/>
              </a:spcAft>
              <a:buNone/>
            </a:pPr>
            <a:r>
              <a:rPr lang="zh-TW" sz="2400" b="1" dirty="0">
                <a:solidFill>
                  <a:srgbClr val="1B5FA8"/>
                </a:solidFill>
                <a:latin typeface="微軟正黑體"/>
                <a:ea typeface="微軟正黑體"/>
              </a:rPr>
              <a:t>里程碑</a:t>
            </a:r>
          </a:p>
          <a:p>
            <a:pPr marL="171450" indent="-171450">
              <a:lnSpc>
                <a:spcPct val="100000"/>
              </a:lnSpc>
              <a:spcBef>
                <a:spcPts val="500"/>
              </a:spcBef>
              <a:buFont typeface="Arial"/>
              <a:buChar char="•"/>
            </a:pPr>
            <a:r>
              <a:rPr lang="zh-TW" dirty="0">
                <a:solidFill>
                  <a:srgbClr val="333333"/>
                </a:solidFill>
                <a:latin typeface="微軟正黑體"/>
                <a:ea typeface="微軟正黑體"/>
              </a:rPr>
              <a:t>史上第一個在 USMLE 拿到 100% 滿分的 AI</a:t>
            </a:r>
          </a:p>
          <a:p>
            <a:pPr marL="171450" indent="-171450">
              <a:lnSpc>
                <a:spcPct val="100000"/>
              </a:lnSpc>
              <a:spcBef>
                <a:spcPts val="500"/>
              </a:spcBef>
              <a:buFont typeface="Arial"/>
              <a:buChar char="•"/>
            </a:pPr>
            <a:r>
              <a:rPr lang="zh-TW" dirty="0">
                <a:solidFill>
                  <a:srgbClr val="333333"/>
                </a:solidFill>
                <a:latin typeface="微軟正黑體"/>
                <a:ea typeface="微軟正黑體"/>
              </a:rPr>
              <a:t>2026/1 完成 2.5 億美元 D 輪，估值 120 億美元</a:t>
            </a:r>
          </a:p>
          <a:p>
            <a:pPr marL="171450" indent="-171450">
              <a:lnSpc>
                <a:spcPct val="100000"/>
              </a:lnSpc>
              <a:spcBef>
                <a:spcPts val="500"/>
              </a:spcBef>
              <a:buFont typeface="Arial"/>
              <a:buChar char="•"/>
            </a:pPr>
            <a:r>
              <a:rPr lang="zh-TW" dirty="0">
                <a:solidFill>
                  <a:srgbClr val="333333"/>
                </a:solidFill>
                <a:latin typeface="微軟正黑體"/>
                <a:ea typeface="微軟正黑體"/>
              </a:rPr>
              <a:t>估值三個月內從 60 億翻倍</a:t>
            </a:r>
          </a:p>
          <a:p>
            <a:pPr marL="171450" indent="-171450">
              <a:lnSpc>
                <a:spcPct val="100000"/>
              </a:lnSpc>
              <a:spcBef>
                <a:spcPts val="500"/>
              </a:spcBef>
              <a:buFont typeface="Arial"/>
              <a:buChar char="•"/>
            </a:pPr>
            <a:r>
              <a:rPr lang="zh-TW" dirty="0">
                <a:solidFill>
                  <a:srgbClr val="333333"/>
                </a:solidFill>
                <a:latin typeface="微軟正黑體"/>
                <a:ea typeface="微軟正黑體"/>
              </a:rPr>
              <a:t>創辦人 Daniel Nadler 入選 2025 TIME100 Health</a:t>
            </a:r>
          </a:p>
        </p:txBody>
      </p:sp>
      <p:sp>
        <p:nvSpPr>
          <p:cNvPr id="205" name="Text 權威內容合作"/>
          <p:cNvSpPr txBox="1"/>
          <p:nvPr/>
        </p:nvSpPr>
        <p:spPr>
          <a:xfrm>
            <a:off x="685800" y="3957749"/>
            <a:ext cx="4978400" cy="11963400"/>
          </a:xfrm>
          <a:noFill/>
        </p:spPr>
        <p:txBody>
          <a:bodyPr wrap="square" lIns="0" tIns="0" rIns="0" bIns="0">
            <a:spAutoFit/>
          </a:bodyPr>
          <a:lstStyle/>
          <a:p>
            <a:pPr marL="0" indent="0">
              <a:spcAft>
                <a:spcPts val="500"/>
              </a:spcAft>
              <a:buNone/>
            </a:pPr>
            <a:r>
              <a:rPr lang="zh-TW" sz="2000" b="1" dirty="0">
                <a:solidFill>
                  <a:srgbClr val="1B5FA8"/>
                </a:solidFill>
                <a:latin typeface="微軟正黑體"/>
                <a:ea typeface="微軟正黑體"/>
              </a:rPr>
              <a:t>權威內容合作</a:t>
            </a:r>
          </a:p>
          <a:p>
            <a:pPr marL="171450" indent="-171450">
              <a:lnSpc>
                <a:spcPct val="100000"/>
              </a:lnSpc>
              <a:spcBef>
                <a:spcPts val="500"/>
              </a:spcBef>
              <a:buFont typeface="Arial"/>
              <a:buChar char="•"/>
            </a:pPr>
            <a:r>
              <a:rPr lang="zh-TW" dirty="0">
                <a:solidFill>
                  <a:srgbClr val="333333"/>
                </a:solidFill>
                <a:latin typeface="微軟正黑體"/>
                <a:ea typeface="微軟正黑體"/>
              </a:rPr>
              <a:t>直接授權 NEJM 與 JAMA 全部 11 本專科期刊</a:t>
            </a:r>
          </a:p>
          <a:p>
            <a:pPr marL="171450" indent="-171450">
              <a:lnSpc>
                <a:spcPct val="100000"/>
              </a:lnSpc>
              <a:spcBef>
                <a:spcPts val="500"/>
              </a:spcBef>
              <a:buFont typeface="Arial"/>
              <a:buChar char="•"/>
            </a:pPr>
            <a:r>
              <a:rPr lang="zh-TW" dirty="0">
                <a:solidFill>
                  <a:srgbClr val="333333"/>
                </a:solidFill>
                <a:latin typeface="微軟正黑體"/>
                <a:ea typeface="微軟正黑體"/>
              </a:rPr>
              <a:t>涵蓋 Lancet、NCCN、ACC、AAFP、ACEP 等 300+ 出版品</a:t>
            </a:r>
          </a:p>
          <a:p>
            <a:pPr marL="171450" indent="-171450">
              <a:lnSpc>
                <a:spcPct val="100000"/>
              </a:lnSpc>
              <a:spcBef>
                <a:spcPts val="500"/>
              </a:spcBef>
              <a:buFont typeface="Arial"/>
              <a:buChar char="•"/>
            </a:pPr>
            <a:r>
              <a:rPr lang="zh-TW" dirty="0">
                <a:solidFill>
                  <a:srgbClr val="333333"/>
                </a:solidFill>
                <a:latin typeface="微軟正黑體"/>
                <a:ea typeface="微軟正黑體"/>
              </a:rPr>
              <a:t>同步納入 FDA、CDC 官方資料</a:t>
            </a:r>
          </a:p>
          <a:p>
            <a:pPr marL="171450" indent="-171450">
              <a:lnSpc>
                <a:spcPct val="100000"/>
              </a:lnSpc>
              <a:spcBef>
                <a:spcPts val="500"/>
              </a:spcBef>
              <a:buFont typeface="Arial"/>
              <a:buChar char="•"/>
            </a:pPr>
            <a:r>
              <a:rPr lang="zh-TW" b="1" dirty="0">
                <a:solidFill>
                  <a:srgbClr val="FF0000"/>
                </a:solidFill>
                <a:latin typeface="微軟正黑體"/>
                <a:ea typeface="微軟正黑體"/>
              </a:rPr>
              <a:t>回答都附原始文獻引用，與 ChatGPT 最大差別</a:t>
            </a:r>
          </a:p>
        </p:txBody>
      </p:sp>
      <p:sp>
        <p:nvSpPr>
          <p:cNvPr id="206" name="Text 主要功能"/>
          <p:cNvSpPr txBox="1"/>
          <p:nvPr/>
        </p:nvSpPr>
        <p:spPr>
          <a:xfrm>
            <a:off x="6527800" y="3937000"/>
            <a:ext cx="4978400" cy="11795760"/>
          </a:xfrm>
          <a:noFill/>
        </p:spPr>
        <p:txBody>
          <a:bodyPr wrap="square" lIns="0" tIns="0" rIns="0" bIns="0">
            <a:spAutoFit/>
          </a:bodyPr>
          <a:lstStyle/>
          <a:p>
            <a:pPr marL="0" indent="0">
              <a:spcAft>
                <a:spcPts val="500"/>
              </a:spcAft>
              <a:buNone/>
            </a:pPr>
            <a:r>
              <a:rPr lang="zh-TW" sz="2400" b="1" dirty="0">
                <a:solidFill>
                  <a:srgbClr val="1B5FA8"/>
                </a:solidFill>
                <a:latin typeface="微軟正黑體"/>
                <a:ea typeface="微軟正黑體"/>
              </a:rPr>
              <a:t>主要功能</a:t>
            </a:r>
          </a:p>
          <a:p>
            <a:pPr marL="171450" indent="-171450">
              <a:lnSpc>
                <a:spcPct val="100000"/>
              </a:lnSpc>
              <a:spcBef>
                <a:spcPts val="500"/>
              </a:spcBef>
              <a:buFont typeface="Arial"/>
              <a:buChar char="•"/>
            </a:pPr>
            <a:r>
              <a:rPr lang="zh-TW" sz="1600" dirty="0">
                <a:solidFill>
                  <a:srgbClr val="333333"/>
                </a:solidFill>
                <a:latin typeface="微軟正黑體"/>
                <a:ea typeface="微軟正黑體"/>
              </a:rPr>
              <a:t>Quick Consult：幾秒內給出附引用的臨床答案</a:t>
            </a:r>
          </a:p>
          <a:p>
            <a:pPr marL="171450" indent="-171450">
              <a:lnSpc>
                <a:spcPct val="100000"/>
              </a:lnSpc>
              <a:spcBef>
                <a:spcPts val="500"/>
              </a:spcBef>
              <a:buFont typeface="Arial"/>
              <a:buChar char="•"/>
            </a:pPr>
            <a:r>
              <a:rPr lang="zh-TW" sz="1600" dirty="0">
                <a:solidFill>
                  <a:srgbClr val="333333"/>
                </a:solidFill>
                <a:latin typeface="微軟正黑體"/>
                <a:ea typeface="微軟正黑體"/>
              </a:rPr>
              <a:t>DeepConsult：AI agent 平行分析數百篇研究</a:t>
            </a:r>
          </a:p>
          <a:p>
            <a:pPr marL="171450" indent="-171450">
              <a:lnSpc>
                <a:spcPct val="100000"/>
              </a:lnSpc>
              <a:spcBef>
                <a:spcPts val="500"/>
              </a:spcBef>
              <a:buFont typeface="Arial"/>
              <a:buChar char="•"/>
            </a:pPr>
            <a:r>
              <a:rPr lang="zh-TW" sz="1600" dirty="0">
                <a:solidFill>
                  <a:srgbClr val="333333"/>
                </a:solidFill>
                <a:latin typeface="微軟正黑體"/>
                <a:ea typeface="微軟正黑體"/>
              </a:rPr>
              <a:t>Visits：看診轉錄與摘要，2026/3 新增 AI 醫療編碼</a:t>
            </a:r>
          </a:p>
          <a:p>
            <a:pPr marL="171450" indent="-171450">
              <a:lnSpc>
                <a:spcPct val="100000"/>
              </a:lnSpc>
              <a:spcBef>
                <a:spcPts val="500"/>
              </a:spcBef>
              <a:buFont typeface="Arial"/>
              <a:buChar char="•"/>
            </a:pPr>
            <a:r>
              <a:rPr lang="zh-TW" sz="1600" dirty="0">
                <a:solidFill>
                  <a:srgbClr val="333333"/>
                </a:solidFill>
                <a:latin typeface="微軟正黑體"/>
                <a:ea typeface="微軟正黑體"/>
              </a:rPr>
              <a:t>語音模式（2026）：免手持提問，適合手術室</a:t>
            </a:r>
          </a:p>
          <a:p>
            <a:pPr marL="171450" indent="-171450">
              <a:lnSpc>
                <a:spcPct val="100000"/>
              </a:lnSpc>
              <a:spcBef>
                <a:spcPts val="500"/>
              </a:spcBef>
              <a:buFont typeface="Arial"/>
              <a:buChar char="•"/>
            </a:pPr>
            <a:r>
              <a:rPr lang="zh-TW" sz="1600" dirty="0">
                <a:solidFill>
                  <a:srgbClr val="333333"/>
                </a:solidFill>
                <a:latin typeface="微軟正黑體"/>
                <a:ea typeface="微軟正黑體"/>
              </a:rPr>
              <a:t>50+ 臨床計算器；對醫療人員完全免費</a:t>
            </a:r>
          </a:p>
        </p:txBody>
      </p:sp>
    </p:spTree>
    <p:extLst>
      <p:ext uri="{BB962C8B-B14F-4D97-AF65-F5344CB8AC3E}">
        <p14:creationId xmlns:p14="http://schemas.microsoft.com/office/powerpoint/2010/main" val="35897962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68896B4A-5242-1140-9007-B73E8C83083F}"/>
              </a:ext>
            </a:extLst>
          </p:cNvPr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3A6B8A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latin typeface="微軟正黑體"/>
              <a:ea typeface="微軟正黑體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676994A-91EC-1C4E-A72E-7595E4322F39}"/>
              </a:ext>
            </a:extLst>
          </p:cNvPr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F7F9FB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latin typeface="微軟正黑體"/>
              <a:ea typeface="微軟正黑體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4FEB6EB-FE24-3249-933F-AD0023087893}"/>
              </a:ext>
            </a:extLst>
          </p:cNvPr>
          <p:cNvSpPr/>
          <p:nvPr/>
        </p:nvSpPr>
        <p:spPr>
          <a:xfrm>
            <a:off x="0" y="6492240"/>
            <a:ext cx="12192000" cy="18288"/>
          </a:xfrm>
          <a:prstGeom prst="rect">
            <a:avLst/>
          </a:prstGeom>
          <a:solidFill>
            <a:srgbClr val="3A6B8A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latin typeface="微軟正黑體"/>
              <a:ea typeface="微軟正黑體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7CF2A8FC-90EB-EA4E-9B6D-310077CBAD61}"/>
              </a:ext>
            </a:extLst>
          </p:cNvPr>
          <p:cNvSpPr txBox="1"/>
          <p:nvPr/>
        </p:nvSpPr>
        <p:spPr>
          <a:xfrm>
            <a:off x="502920" y="6546850"/>
            <a:ext cx="91440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TW" altLang="en-US" sz="1100">
                <a:solidFill>
                  <a:srgbClr val="5A6A7A"/>
                </a:solidFill>
                <a:latin typeface="微軟正黑體"/>
                <a:ea typeface="微軟正黑體"/>
              </a:rPr>
              <a:t>大台中診所協會 胡哲禎醫師 ｜ </a:t>
            </a:r>
            <a:r>
              <a:rPr lang="en-US" altLang="zh-TW" sz="1100">
                <a:solidFill>
                  <a:srgbClr val="5A6A7A"/>
                </a:solidFill>
                <a:latin typeface="微軟正黑體"/>
                <a:ea typeface="微軟正黑體"/>
              </a:rPr>
              <a:t>2026</a:t>
            </a:r>
            <a:endParaRPr lang="zh-TW" altLang="en-US" sz="1100">
              <a:solidFill>
                <a:srgbClr val="5A6A7A"/>
              </a:solidFill>
              <a:latin typeface="微軟正黑體"/>
              <a:ea typeface="微軟正黑體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1F4F6C2A-B9D6-BE4D-AA53-FB5E3D41471E}"/>
              </a:ext>
            </a:extLst>
          </p:cNvPr>
          <p:cNvSpPr txBox="1"/>
          <p:nvPr/>
        </p:nvSpPr>
        <p:spPr>
          <a:xfrm>
            <a:off x="457200" y="279400"/>
            <a:ext cx="9652000" cy="558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TW" altLang="en-US" sz="3000" b="1">
                <a:solidFill>
                  <a:srgbClr val="1A1A1A"/>
                </a:solidFill>
                <a:latin typeface="微軟正黑體"/>
                <a:ea typeface="微軟正黑體"/>
              </a:rPr>
              <a:t>為什麼用 </a:t>
            </a:r>
            <a:r>
              <a:rPr lang="en" altLang="zh-TW" sz="3000" b="1">
                <a:solidFill>
                  <a:srgbClr val="1A1A1A"/>
                </a:solidFill>
                <a:latin typeface="微軟正黑體"/>
                <a:ea typeface="微軟正黑體"/>
              </a:rPr>
              <a:t>OpenEvidence</a:t>
            </a:r>
            <a:r>
              <a:rPr lang="zh-TW" altLang="en" sz="3000" b="1">
                <a:solidFill>
                  <a:srgbClr val="1A1A1A"/>
                </a:solidFill>
                <a:latin typeface="微軟正黑體"/>
                <a:ea typeface="微軟正黑體"/>
              </a:rPr>
              <a:t>？</a:t>
            </a:r>
            <a:endParaRPr lang="zh-TW" altLang="en-US" sz="3000" b="1">
              <a:solidFill>
                <a:srgbClr val="1A1A1A"/>
              </a:solidFill>
              <a:latin typeface="微軟正黑體"/>
              <a:ea typeface="微軟正黑體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5A5858ED-B272-B645-9530-B596CFF9E60D}"/>
              </a:ext>
            </a:extLst>
          </p:cNvPr>
          <p:cNvSpPr txBox="1"/>
          <p:nvPr/>
        </p:nvSpPr>
        <p:spPr>
          <a:xfrm>
            <a:off x="457200" y="838200"/>
            <a:ext cx="10922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TW" altLang="en-US" sz="1600">
                <a:solidFill>
                  <a:srgbClr val="5A6A7A"/>
                </a:solidFill>
                <a:latin typeface="微軟正黑體"/>
                <a:ea typeface="微軟正黑體"/>
              </a:rPr>
              <a:t>這是只有醫師能登入的臨床 </a:t>
            </a:r>
            <a:r>
              <a:rPr lang="en" altLang="zh-TW" sz="1600">
                <a:solidFill>
                  <a:srgbClr val="5A6A7A"/>
                </a:solidFill>
                <a:latin typeface="微軟正黑體"/>
                <a:ea typeface="微軟正黑體"/>
              </a:rPr>
              <a:t>AI ── </a:t>
            </a:r>
            <a:r>
              <a:rPr lang="zh-TW" altLang="en-US" sz="1600">
                <a:solidFill>
                  <a:srgbClr val="5A6A7A"/>
                </a:solidFill>
                <a:latin typeface="微軟正黑體"/>
                <a:ea typeface="微軟正黑體"/>
              </a:rPr>
              <a:t>門檻本身就是說服力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3D17368-D5C7-594A-BC44-A1B8C63BBE4E}"/>
              </a:ext>
            </a:extLst>
          </p:cNvPr>
          <p:cNvSpPr/>
          <p:nvPr/>
        </p:nvSpPr>
        <p:spPr>
          <a:xfrm>
            <a:off x="457200" y="1295400"/>
            <a:ext cx="3657600" cy="2870200"/>
          </a:xfrm>
          <a:prstGeom prst="rect">
            <a:avLst/>
          </a:prstGeom>
          <a:solidFill>
            <a:srgbClr val="F4F8FB"/>
          </a:solidFill>
          <a:ln w="12700" cap="flat" cmpd="sng" algn="ctr">
            <a:solidFill>
              <a:srgbClr val="CBDCE8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latin typeface="微軟正黑體"/>
              <a:ea typeface="微軟正黑體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C29D7A4-AE8B-EF4F-ADEF-81F0D1F19FAF}"/>
              </a:ext>
            </a:extLst>
          </p:cNvPr>
          <p:cNvSpPr/>
          <p:nvPr/>
        </p:nvSpPr>
        <p:spPr>
          <a:xfrm>
            <a:off x="457200" y="1295400"/>
            <a:ext cx="3657600" cy="50800"/>
          </a:xfrm>
          <a:prstGeom prst="rect">
            <a:avLst/>
          </a:prstGeom>
          <a:solidFill>
            <a:srgbClr val="3A6B8A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latin typeface="微軟正黑體"/>
              <a:ea typeface="微軟正黑體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BB344F47-2DAF-B04A-9391-9EE94F9F94D7}"/>
              </a:ext>
            </a:extLst>
          </p:cNvPr>
          <p:cNvSpPr txBox="1"/>
          <p:nvPr/>
        </p:nvSpPr>
        <p:spPr>
          <a:xfrm>
            <a:off x="685800" y="1473200"/>
            <a:ext cx="3200400" cy="2540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>
              <a:buNone/>
            </a:pPr>
            <a:r>
              <a:rPr lang="zh-TW" altLang="en-US" sz="2200" b="1" dirty="0">
                <a:solidFill>
                  <a:srgbClr val="1F5A78"/>
                </a:solidFill>
                <a:latin typeface="微軟正黑體"/>
                <a:ea typeface="微軟正黑體"/>
              </a:rPr>
              <a:t>1｜病患進不來</a:t>
            </a:r>
          </a:p>
          <a:p>
            <a:pPr marL="171450" indent="-171450" algn="l">
              <a:lnSpc>
                <a:spcPct val="105000"/>
              </a:lnSpc>
              <a:spcBef>
                <a:spcPts val="450"/>
              </a:spcBef>
              <a:buFont typeface="Arial"/>
              <a:buChar char="•"/>
            </a:pPr>
            <a:r>
              <a:rPr lang="zh-TW" altLang="en-US" sz="1700" dirty="0">
                <a:solidFill>
                  <a:srgbClr val="333333"/>
                </a:solidFill>
                <a:latin typeface="微軟正黑體"/>
                <a:ea typeface="微軟正黑體"/>
              </a:rPr>
              <a:t>註冊須上傳執業執照驗證身分</a:t>
            </a:r>
          </a:p>
          <a:p>
            <a:pPr marL="171450" indent="-171450" algn="l">
              <a:lnSpc>
                <a:spcPct val="105000"/>
              </a:lnSpc>
              <a:spcBef>
                <a:spcPts val="450"/>
              </a:spcBef>
              <a:buFont typeface="Arial"/>
              <a:buChar char="•"/>
            </a:pPr>
            <a:r>
              <a:rPr lang="zh-TW" altLang="en-US" sz="1700" dirty="0">
                <a:solidFill>
                  <a:srgbClr val="333333"/>
                </a:solidFill>
                <a:latin typeface="微軟正黑體"/>
                <a:ea typeface="微軟正黑體"/>
              </a:rPr>
              <a:t>一般民眾無法申請帳號</a:t>
            </a:r>
          </a:p>
          <a:p>
            <a:pPr marL="171450" indent="-171450" algn="l">
              <a:lnSpc>
                <a:spcPct val="105000"/>
              </a:lnSpc>
              <a:spcBef>
                <a:spcPts val="450"/>
              </a:spcBef>
              <a:buFont typeface="Arial"/>
              <a:buChar char="•"/>
            </a:pPr>
            <a:r>
              <a:rPr lang="zh-TW" altLang="en-US" sz="1700" dirty="0">
                <a:solidFill>
                  <a:srgbClr val="333333"/>
                </a:solidFill>
                <a:latin typeface="微軟正黑體"/>
                <a:ea typeface="微軟正黑體"/>
              </a:rPr>
              <a:t>病患手上的 ChatGPT、Gemini 查不到同一套答案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C867FD7-A54F-6C48-B044-E6146D3B55F7}"/>
              </a:ext>
            </a:extLst>
          </p:cNvPr>
          <p:cNvSpPr/>
          <p:nvPr/>
        </p:nvSpPr>
        <p:spPr>
          <a:xfrm>
            <a:off x="4267200" y="1295400"/>
            <a:ext cx="3657600" cy="2870200"/>
          </a:xfrm>
          <a:prstGeom prst="rect">
            <a:avLst/>
          </a:prstGeom>
          <a:solidFill>
            <a:srgbClr val="F4F8FB"/>
          </a:solidFill>
          <a:ln w="12700" cap="flat" cmpd="sng" algn="ctr">
            <a:solidFill>
              <a:srgbClr val="CBDCE8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latin typeface="微軟正黑體"/>
              <a:ea typeface="微軟正黑體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2EA482F-5805-4948-A072-EE15BCE32CA7}"/>
              </a:ext>
            </a:extLst>
          </p:cNvPr>
          <p:cNvSpPr/>
          <p:nvPr/>
        </p:nvSpPr>
        <p:spPr>
          <a:xfrm>
            <a:off x="4267200" y="1295400"/>
            <a:ext cx="3657600" cy="50800"/>
          </a:xfrm>
          <a:prstGeom prst="rect">
            <a:avLst/>
          </a:prstGeom>
          <a:solidFill>
            <a:srgbClr val="3A6B8A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latin typeface="微軟正黑體"/>
              <a:ea typeface="微軟正黑體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9873D0D3-26C1-E14E-9F10-883F1802989C}"/>
              </a:ext>
            </a:extLst>
          </p:cNvPr>
          <p:cNvSpPr txBox="1"/>
          <p:nvPr/>
        </p:nvSpPr>
        <p:spPr>
          <a:xfrm>
            <a:off x="4495800" y="1473200"/>
            <a:ext cx="3200400" cy="2540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>
              <a:buNone/>
            </a:pPr>
            <a:r>
              <a:rPr lang="zh-TW" altLang="en-US" sz="2200" b="1" dirty="0">
                <a:solidFill>
                  <a:srgbClr val="1F5A78"/>
                </a:solidFill>
                <a:latin typeface="微軟正黑體"/>
                <a:ea typeface="微軟正黑體"/>
              </a:rPr>
              <a:t>2｜診間怎麼用</a:t>
            </a:r>
          </a:p>
          <a:p>
            <a:pPr marL="171450" indent="-171450" algn="l">
              <a:lnSpc>
                <a:spcPct val="105000"/>
              </a:lnSpc>
              <a:spcBef>
                <a:spcPts val="450"/>
              </a:spcBef>
              <a:buFont typeface="Arial"/>
              <a:buChar char="•"/>
            </a:pPr>
            <a:r>
              <a:rPr lang="zh-TW" altLang="en-US" sz="1700" dirty="0">
                <a:solidFill>
                  <a:srgbClr val="333333"/>
                </a:solidFill>
                <a:latin typeface="微軟正黑體"/>
                <a:ea typeface="微軟正黑體"/>
              </a:rPr>
              <a:t>病患拿 AI 的答案來問時，先接住他的問題</a:t>
            </a:r>
          </a:p>
          <a:p>
            <a:pPr marL="171450" indent="-171450" algn="l">
              <a:lnSpc>
                <a:spcPct val="105000"/>
              </a:lnSpc>
              <a:spcBef>
                <a:spcPts val="450"/>
              </a:spcBef>
              <a:buFont typeface="Arial"/>
              <a:buChar char="•"/>
            </a:pPr>
            <a:r>
              <a:rPr lang="zh-TW" altLang="en-US" sz="1700" dirty="0">
                <a:solidFill>
                  <a:srgbClr val="333333"/>
                </a:solidFill>
                <a:latin typeface="微軟正黑體"/>
                <a:ea typeface="微軟正黑體"/>
              </a:rPr>
              <a:t>當場用 OpenEvidence 查證，與他的說法比對</a:t>
            </a:r>
          </a:p>
          <a:p>
            <a:pPr marL="171450" indent="-171450" algn="l">
              <a:lnSpc>
                <a:spcPct val="105000"/>
              </a:lnSpc>
              <a:spcBef>
                <a:spcPts val="450"/>
              </a:spcBef>
              <a:buFont typeface="Arial"/>
              <a:buChar char="•"/>
            </a:pPr>
            <a:r>
              <a:rPr lang="zh-TW" altLang="en-US" sz="1700" dirty="0">
                <a:solidFill>
                  <a:srgbClr val="333333"/>
                </a:solidFill>
                <a:latin typeface="微軟正黑體"/>
                <a:ea typeface="微軟正黑體"/>
              </a:rPr>
              <a:t>引用原始文獻，直接看到出處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90C8DCD-E326-5C4B-A3E2-52CA079312B8}"/>
              </a:ext>
            </a:extLst>
          </p:cNvPr>
          <p:cNvSpPr/>
          <p:nvPr/>
        </p:nvSpPr>
        <p:spPr>
          <a:xfrm>
            <a:off x="8077200" y="1295400"/>
            <a:ext cx="3657600" cy="2870200"/>
          </a:xfrm>
          <a:prstGeom prst="rect">
            <a:avLst/>
          </a:prstGeom>
          <a:solidFill>
            <a:srgbClr val="F4F8FB"/>
          </a:solidFill>
          <a:ln w="12700" cap="flat" cmpd="sng" algn="ctr">
            <a:solidFill>
              <a:srgbClr val="CBDCE8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latin typeface="微軟正黑體"/>
              <a:ea typeface="微軟正黑體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5E7E500-D326-E04F-A852-1BEB9C5EB7C7}"/>
              </a:ext>
            </a:extLst>
          </p:cNvPr>
          <p:cNvSpPr/>
          <p:nvPr/>
        </p:nvSpPr>
        <p:spPr>
          <a:xfrm>
            <a:off x="8077200" y="1295400"/>
            <a:ext cx="3657600" cy="50800"/>
          </a:xfrm>
          <a:prstGeom prst="rect">
            <a:avLst/>
          </a:prstGeom>
          <a:solidFill>
            <a:srgbClr val="3A6B8A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latin typeface="微軟正黑體"/>
              <a:ea typeface="微軟正黑體"/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D14B5056-BE9A-A54A-8AC6-EEEE91CBBF36}"/>
              </a:ext>
            </a:extLst>
          </p:cNvPr>
          <p:cNvSpPr txBox="1"/>
          <p:nvPr/>
        </p:nvSpPr>
        <p:spPr>
          <a:xfrm>
            <a:off x="8305800" y="1473200"/>
            <a:ext cx="3200400" cy="2540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>
              <a:buNone/>
            </a:pPr>
            <a:r>
              <a:rPr lang="zh-TW" altLang="en-US" sz="2200" b="1" dirty="0">
                <a:solidFill>
                  <a:srgbClr val="1F5A78"/>
                </a:solidFill>
                <a:latin typeface="微軟正黑體"/>
                <a:ea typeface="微軟正黑體"/>
              </a:rPr>
              <a:t>3｜帶來的效果</a:t>
            </a:r>
          </a:p>
          <a:p>
            <a:pPr marL="171450" indent="-171450" algn="l">
              <a:lnSpc>
                <a:spcPct val="105000"/>
              </a:lnSpc>
              <a:spcBef>
                <a:spcPts val="450"/>
              </a:spcBef>
              <a:buFont typeface="Arial"/>
              <a:buChar char="•"/>
            </a:pPr>
            <a:r>
              <a:rPr lang="zh-TW" altLang="en-US" sz="1700" dirty="0">
                <a:solidFill>
                  <a:srgbClr val="333333"/>
                </a:solidFill>
                <a:latin typeface="微軟正黑體"/>
                <a:ea typeface="微軟正黑體"/>
              </a:rPr>
              <a:t>用的是只有醫師能登入的臨床 AI</a:t>
            </a:r>
          </a:p>
          <a:p>
            <a:pPr marL="171450" indent="-171450" algn="l">
              <a:lnSpc>
                <a:spcPct val="105000"/>
              </a:lnSpc>
              <a:spcBef>
                <a:spcPts val="450"/>
              </a:spcBef>
              <a:buFont typeface="Arial"/>
              <a:buChar char="•"/>
            </a:pPr>
            <a:r>
              <a:rPr lang="zh-TW" altLang="en-US" sz="1700" dirty="0">
                <a:solidFill>
                  <a:srgbClr val="333333"/>
                </a:solidFill>
                <a:latin typeface="微軟正黑體"/>
                <a:ea typeface="微軟正黑體"/>
              </a:rPr>
              <a:t>不必和病患使用同一套工具</a:t>
            </a:r>
          </a:p>
          <a:p>
            <a:pPr marL="171450" indent="-171450" algn="l">
              <a:lnSpc>
                <a:spcPct val="105000"/>
              </a:lnSpc>
              <a:spcBef>
                <a:spcPts val="450"/>
              </a:spcBef>
              <a:buFont typeface="Arial"/>
              <a:buChar char="•"/>
            </a:pPr>
            <a:r>
              <a:rPr lang="zh-TW" altLang="en-US" sz="1700" dirty="0">
                <a:solidFill>
                  <a:srgbClr val="333333"/>
                </a:solidFill>
                <a:latin typeface="微軟正黑體"/>
                <a:ea typeface="微軟正黑體"/>
              </a:rPr>
              <a:t>專業判斷更容易被信服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356F2D7-ED97-9148-8A4E-A6E637B5CA9A}"/>
              </a:ext>
            </a:extLst>
          </p:cNvPr>
          <p:cNvSpPr/>
          <p:nvPr/>
        </p:nvSpPr>
        <p:spPr>
          <a:xfrm>
            <a:off x="457200" y="4368800"/>
            <a:ext cx="11277600" cy="1422400"/>
          </a:xfrm>
          <a:prstGeom prst="rect">
            <a:avLst/>
          </a:prstGeom>
          <a:solidFill>
            <a:srgbClr val="3A6B8A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latin typeface="微軟正黑體"/>
              <a:ea typeface="微軟正黑體"/>
            </a:endParaRP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7CBC8CD3-9986-514E-90B1-66E370091326}"/>
              </a:ext>
            </a:extLst>
          </p:cNvPr>
          <p:cNvSpPr txBox="1"/>
          <p:nvPr/>
        </p:nvSpPr>
        <p:spPr>
          <a:xfrm>
            <a:off x="762000" y="4546600"/>
            <a:ext cx="10668000" cy="1092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ctr">
              <a:buNone/>
            </a:pPr>
            <a:r>
              <a:rPr lang="zh-TW" altLang="en-US" sz="2400" b="1" dirty="0">
                <a:solidFill>
                  <a:srgbClr val="FFFFFF"/>
                </a:solidFill>
                <a:latin typeface="微軟正黑體"/>
                <a:ea typeface="微軟正黑體"/>
              </a:rPr>
              <a:t>「好，那我用醫生專用的</a:t>
            </a:r>
            <a:r>
              <a:rPr lang="en-US" altLang="zh-TW" sz="2400" b="1" dirty="0">
                <a:solidFill>
                  <a:srgbClr val="FFFFFF"/>
                </a:solidFill>
                <a:latin typeface="微軟正黑體"/>
                <a:ea typeface="微軟正黑體"/>
              </a:rPr>
              <a:t>AI</a:t>
            </a:r>
            <a:r>
              <a:rPr lang="zh-TW" altLang="en-US" sz="2400" b="1" dirty="0">
                <a:solidFill>
                  <a:srgbClr val="FFFFFF"/>
                </a:solidFill>
                <a:latin typeface="微軟正黑體"/>
                <a:ea typeface="微軟正黑體"/>
              </a:rPr>
              <a:t>查一下資料，對照一下。」</a:t>
            </a:r>
          </a:p>
          <a:p>
            <a:pPr algn="ctr">
              <a:buNone/>
            </a:pPr>
            <a:r>
              <a:rPr lang="zh-TW" altLang="en-US" sz="1700" dirty="0">
                <a:solidFill>
                  <a:srgbClr val="DCE8F0"/>
                </a:solidFill>
                <a:latin typeface="微軟正黑體"/>
                <a:ea typeface="微軟正黑體"/>
              </a:rPr>
              <a:t>一句話把對話帶回專業判斷，既回應了病患，也不必跟他用同一套工具。</a:t>
            </a:r>
          </a:p>
        </p:txBody>
      </p:sp>
    </p:spTree>
    <p:extLst>
      <p:ext uri="{BB962C8B-B14F-4D97-AF65-F5344CB8AC3E}">
        <p14:creationId xmlns:p14="http://schemas.microsoft.com/office/powerpoint/2010/main" val="15783889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98B1071C-E0D0-1C49-9AA2-145A9653354E}"/>
              </a:ext>
            </a:extLst>
          </p:cNvPr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3A6B8A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latin typeface="微軟正黑體"/>
              <a:ea typeface="微軟正黑體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DAAFF3C-1DCA-BD4A-AEC9-0D752E90394E}"/>
              </a:ext>
            </a:extLst>
          </p:cNvPr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F7F9FB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latin typeface="微軟正黑體"/>
              <a:ea typeface="微軟正黑體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5D0B1B6-D081-F644-9A3E-A5185DBE1AFE}"/>
              </a:ext>
            </a:extLst>
          </p:cNvPr>
          <p:cNvSpPr/>
          <p:nvPr/>
        </p:nvSpPr>
        <p:spPr>
          <a:xfrm>
            <a:off x="0" y="6492240"/>
            <a:ext cx="12192000" cy="18288"/>
          </a:xfrm>
          <a:prstGeom prst="rect">
            <a:avLst/>
          </a:prstGeom>
          <a:solidFill>
            <a:srgbClr val="3A6B8A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latin typeface="微軟正黑體"/>
              <a:ea typeface="微軟正黑體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40FF27EE-B753-7941-A555-EDCDFAB12546}"/>
              </a:ext>
            </a:extLst>
          </p:cNvPr>
          <p:cNvSpPr txBox="1"/>
          <p:nvPr/>
        </p:nvSpPr>
        <p:spPr>
          <a:xfrm>
            <a:off x="502920" y="6546850"/>
            <a:ext cx="91440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TW" altLang="en-US" sz="1100">
                <a:solidFill>
                  <a:srgbClr val="5A6A7A"/>
                </a:solidFill>
                <a:latin typeface="微軟正黑體"/>
                <a:ea typeface="微軟正黑體"/>
              </a:rPr>
              <a:t>大台中診所協會 胡哲禎醫師 ｜ </a:t>
            </a:r>
            <a:r>
              <a:rPr lang="en-US" altLang="zh-TW" sz="1100">
                <a:solidFill>
                  <a:srgbClr val="5A6A7A"/>
                </a:solidFill>
                <a:latin typeface="微軟正黑體"/>
                <a:ea typeface="微軟正黑體"/>
              </a:rPr>
              <a:t>2026</a:t>
            </a:r>
            <a:endParaRPr lang="zh-TW" altLang="en-US" sz="1100">
              <a:solidFill>
                <a:srgbClr val="5A6A7A"/>
              </a:solidFill>
              <a:latin typeface="微軟正黑體"/>
              <a:ea typeface="微軟正黑體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A0913714-E097-2F4D-ACB3-16DE03BCE53B}"/>
              </a:ext>
            </a:extLst>
          </p:cNvPr>
          <p:cNvSpPr txBox="1"/>
          <p:nvPr/>
        </p:nvSpPr>
        <p:spPr>
          <a:xfrm>
            <a:off x="457200" y="279400"/>
            <a:ext cx="9652000" cy="558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TW" altLang="en-US" sz="3000" b="1">
                <a:solidFill>
                  <a:srgbClr val="1A1A1A"/>
                </a:solidFill>
                <a:latin typeface="微軟正黑體"/>
                <a:ea typeface="微軟正黑體"/>
              </a:rPr>
              <a:t>我怎麼用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5631740A-197A-9748-B0CF-79A79C4B5816}"/>
              </a:ext>
            </a:extLst>
          </p:cNvPr>
          <p:cNvSpPr txBox="1"/>
          <p:nvPr/>
        </p:nvSpPr>
        <p:spPr>
          <a:xfrm>
            <a:off x="457200" y="838200"/>
            <a:ext cx="10922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TW" altLang="en-US" sz="1800">
                <a:solidFill>
                  <a:srgbClr val="5A6A7A"/>
                </a:solidFill>
                <a:latin typeface="微軟正黑體"/>
                <a:ea typeface="微軟正黑體"/>
              </a:rPr>
              <a:t>三個看診當下最常用的情境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15436A0-54B3-0C47-AFBD-949C59A4B6BD}"/>
              </a:ext>
            </a:extLst>
          </p:cNvPr>
          <p:cNvSpPr/>
          <p:nvPr/>
        </p:nvSpPr>
        <p:spPr>
          <a:xfrm>
            <a:off x="457200" y="1371600"/>
            <a:ext cx="11277600" cy="1498600"/>
          </a:xfrm>
          <a:prstGeom prst="rect">
            <a:avLst/>
          </a:prstGeom>
          <a:solidFill>
            <a:srgbClr val="F4F8FB"/>
          </a:solidFill>
          <a:ln w="12700" cap="flat" cmpd="sng" algn="ctr">
            <a:solidFill>
              <a:srgbClr val="CBDCE8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latin typeface="微軟正黑體"/>
              <a:ea typeface="微軟正黑體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BB7126E-1D7A-0E44-B6FB-EDDAF78EE2E9}"/>
              </a:ext>
            </a:extLst>
          </p:cNvPr>
          <p:cNvSpPr/>
          <p:nvPr/>
        </p:nvSpPr>
        <p:spPr>
          <a:xfrm>
            <a:off x="457200" y="1371600"/>
            <a:ext cx="63500" cy="1498600"/>
          </a:xfrm>
          <a:prstGeom prst="rect">
            <a:avLst/>
          </a:prstGeom>
          <a:solidFill>
            <a:srgbClr val="3A6B8A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latin typeface="微軟正黑體"/>
              <a:ea typeface="微軟正黑體"/>
            </a:endParaRPr>
          </a:p>
        </p:txBody>
      </p:sp>
      <p:sp>
        <p:nvSpPr>
          <p:cNvPr id="10" name="橢圓 9">
            <a:extLst>
              <a:ext uri="{FF2B5EF4-FFF2-40B4-BE49-F238E27FC236}">
                <a16:creationId xmlns:a16="http://schemas.microsoft.com/office/drawing/2014/main" id="{E2D4C7C2-97FC-894A-BF09-FB3FC22416E1}"/>
              </a:ext>
            </a:extLst>
          </p:cNvPr>
          <p:cNvSpPr/>
          <p:nvPr/>
        </p:nvSpPr>
        <p:spPr>
          <a:xfrm>
            <a:off x="838200" y="1854200"/>
            <a:ext cx="533400" cy="533400"/>
          </a:xfrm>
          <a:prstGeom prst="ellipse">
            <a:avLst/>
          </a:prstGeom>
          <a:solidFill>
            <a:srgbClr val="3A6B8A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zh-TW" sz="2000" b="1">
                <a:solidFill>
                  <a:srgbClr val="FFFFFF"/>
                </a:solidFill>
                <a:latin typeface="微軟正黑體"/>
                <a:ea typeface="微軟正黑體"/>
              </a:rPr>
              <a:t>1</a:t>
            </a:r>
            <a:endParaRPr lang="zh-TW" altLang="en-US" sz="2000" b="1">
              <a:solidFill>
                <a:srgbClr val="FFFFFF"/>
              </a:solidFill>
              <a:latin typeface="微軟正黑體"/>
              <a:ea typeface="微軟正黑體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A11E64D8-8180-2146-AA9C-53E58FC41D16}"/>
              </a:ext>
            </a:extLst>
          </p:cNvPr>
          <p:cNvSpPr txBox="1"/>
          <p:nvPr/>
        </p:nvSpPr>
        <p:spPr>
          <a:xfrm>
            <a:off x="2743200" y="1701800"/>
            <a:ext cx="8890000" cy="863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>
              <a:buNone/>
            </a:pPr>
            <a:r>
              <a:rPr lang="zh-TW" altLang="en-US" sz="2200" b="1" dirty="0">
                <a:solidFill>
                  <a:srgbClr val="1F5A78"/>
                </a:solidFill>
                <a:latin typeface="微軟正黑體"/>
                <a:ea typeface="微軟正黑體"/>
              </a:rPr>
              <a:t>症狀不確定時 → 查鑑別診斷</a:t>
            </a:r>
          </a:p>
          <a:p>
            <a:pPr algn="l">
              <a:buNone/>
            </a:pPr>
            <a:r>
              <a:rPr lang="zh-TW" altLang="en-US" sz="1800" dirty="0">
                <a:solidFill>
                  <a:srgbClr val="333333"/>
                </a:solidFill>
                <a:latin typeface="微軟正黑體"/>
                <a:ea typeface="微軟正黑體"/>
              </a:rPr>
              <a:t>快速輸入症狀，列出可能的鑑別診斷，避免漏掉少見但重要的可能性。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3AF30F4-CD42-1C4A-8CBA-3B6D3C77F16D}"/>
              </a:ext>
            </a:extLst>
          </p:cNvPr>
          <p:cNvSpPr/>
          <p:nvPr/>
        </p:nvSpPr>
        <p:spPr>
          <a:xfrm>
            <a:off x="457200" y="3048000"/>
            <a:ext cx="11277600" cy="1498600"/>
          </a:xfrm>
          <a:prstGeom prst="rect">
            <a:avLst/>
          </a:prstGeom>
          <a:solidFill>
            <a:srgbClr val="F4F8FB"/>
          </a:solidFill>
          <a:ln w="12700" cap="flat" cmpd="sng" algn="ctr">
            <a:solidFill>
              <a:srgbClr val="CBDCE8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latin typeface="微軟正黑體"/>
              <a:ea typeface="微軟正黑體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E82A95C-2A0A-2C46-A44F-C5DC5B87B7CA}"/>
              </a:ext>
            </a:extLst>
          </p:cNvPr>
          <p:cNvSpPr/>
          <p:nvPr/>
        </p:nvSpPr>
        <p:spPr>
          <a:xfrm>
            <a:off x="457200" y="3048000"/>
            <a:ext cx="63500" cy="1498600"/>
          </a:xfrm>
          <a:prstGeom prst="rect">
            <a:avLst/>
          </a:prstGeom>
          <a:solidFill>
            <a:srgbClr val="3A6B8A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latin typeface="微軟正黑體"/>
              <a:ea typeface="微軟正黑體"/>
            </a:endParaRPr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AA33ACDC-9975-B945-99DC-1069F62E82F9}"/>
              </a:ext>
            </a:extLst>
          </p:cNvPr>
          <p:cNvSpPr/>
          <p:nvPr/>
        </p:nvSpPr>
        <p:spPr>
          <a:xfrm>
            <a:off x="838200" y="3530600"/>
            <a:ext cx="533400" cy="533400"/>
          </a:xfrm>
          <a:prstGeom prst="ellipse">
            <a:avLst/>
          </a:prstGeom>
          <a:solidFill>
            <a:srgbClr val="3A6B8A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zh-TW" sz="2000" b="1">
                <a:solidFill>
                  <a:srgbClr val="FFFFFF"/>
                </a:solidFill>
                <a:latin typeface="微軟正黑體"/>
                <a:ea typeface="微軟正黑體"/>
              </a:rPr>
              <a:t>2</a:t>
            </a:r>
            <a:endParaRPr lang="zh-TW" altLang="en-US" sz="2000" b="1">
              <a:solidFill>
                <a:srgbClr val="FFFFFF"/>
              </a:solidFill>
              <a:latin typeface="微軟正黑體"/>
              <a:ea typeface="微軟正黑體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C540DB8F-1947-D649-9419-1A1A669513FF}"/>
              </a:ext>
            </a:extLst>
          </p:cNvPr>
          <p:cNvSpPr txBox="1"/>
          <p:nvPr/>
        </p:nvSpPr>
        <p:spPr>
          <a:xfrm>
            <a:off x="2743200" y="3378200"/>
            <a:ext cx="8890000" cy="863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>
              <a:buNone/>
            </a:pPr>
            <a:r>
              <a:rPr lang="zh-TW" altLang="en-US" sz="2200" b="1" dirty="0">
                <a:solidFill>
                  <a:srgbClr val="1F5A78"/>
                </a:solidFill>
                <a:latin typeface="微軟正黑體"/>
                <a:ea typeface="微軟正黑體"/>
              </a:rPr>
              <a:t>不確定用藥或治療方式 → 查最新指引</a:t>
            </a:r>
          </a:p>
          <a:p>
            <a:pPr algn="l">
              <a:buNone/>
            </a:pPr>
            <a:r>
              <a:rPr lang="zh-TW" altLang="en-US" sz="1800" dirty="0">
                <a:solidFill>
                  <a:srgbClr val="333333"/>
                </a:solidFill>
                <a:latin typeface="微軟正黑體"/>
                <a:ea typeface="微軟正黑體"/>
              </a:rPr>
              <a:t>直接查到最近、最新的治療指引，並附原始文獻出處。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7A479F8-E740-C74A-9371-5FDF55F60F73}"/>
              </a:ext>
            </a:extLst>
          </p:cNvPr>
          <p:cNvSpPr/>
          <p:nvPr/>
        </p:nvSpPr>
        <p:spPr>
          <a:xfrm>
            <a:off x="457200" y="4724400"/>
            <a:ext cx="11277600" cy="1498600"/>
          </a:xfrm>
          <a:prstGeom prst="rect">
            <a:avLst/>
          </a:prstGeom>
          <a:solidFill>
            <a:srgbClr val="F4F8FB"/>
          </a:solidFill>
          <a:ln w="12700" cap="flat" cmpd="sng" algn="ctr">
            <a:solidFill>
              <a:srgbClr val="CBDCE8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latin typeface="微軟正黑體"/>
              <a:ea typeface="微軟正黑體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3AE91BD-B0A9-944C-8525-3DCC7BA43535}"/>
              </a:ext>
            </a:extLst>
          </p:cNvPr>
          <p:cNvSpPr/>
          <p:nvPr/>
        </p:nvSpPr>
        <p:spPr>
          <a:xfrm>
            <a:off x="457200" y="4724400"/>
            <a:ext cx="63500" cy="1498600"/>
          </a:xfrm>
          <a:prstGeom prst="rect">
            <a:avLst/>
          </a:prstGeom>
          <a:solidFill>
            <a:srgbClr val="3A6B8A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latin typeface="微軟正黑體"/>
              <a:ea typeface="微軟正黑體"/>
            </a:endParaRPr>
          </a:p>
        </p:txBody>
      </p:sp>
      <p:sp>
        <p:nvSpPr>
          <p:cNvPr id="18" name="橢圓 17">
            <a:extLst>
              <a:ext uri="{FF2B5EF4-FFF2-40B4-BE49-F238E27FC236}">
                <a16:creationId xmlns:a16="http://schemas.microsoft.com/office/drawing/2014/main" id="{D4D64D80-2BB0-8440-B084-8BFF47034A15}"/>
              </a:ext>
            </a:extLst>
          </p:cNvPr>
          <p:cNvSpPr/>
          <p:nvPr/>
        </p:nvSpPr>
        <p:spPr>
          <a:xfrm>
            <a:off x="838200" y="5207000"/>
            <a:ext cx="533400" cy="533400"/>
          </a:xfrm>
          <a:prstGeom prst="ellipse">
            <a:avLst/>
          </a:prstGeom>
          <a:solidFill>
            <a:srgbClr val="3A6B8A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zh-TW" sz="2000" b="1">
                <a:solidFill>
                  <a:srgbClr val="FFFFFF"/>
                </a:solidFill>
                <a:latin typeface="微軟正黑體"/>
                <a:ea typeface="微軟正黑體"/>
              </a:rPr>
              <a:t>3</a:t>
            </a:r>
            <a:endParaRPr lang="zh-TW" altLang="en-US" sz="2000" b="1">
              <a:solidFill>
                <a:srgbClr val="FFFFFF"/>
              </a:solidFill>
              <a:latin typeface="微軟正黑體"/>
              <a:ea typeface="微軟正黑體"/>
            </a:endParaRP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AF3A1B26-B993-5B4F-AAF2-2979DDEF496F}"/>
              </a:ext>
            </a:extLst>
          </p:cNvPr>
          <p:cNvSpPr txBox="1"/>
          <p:nvPr/>
        </p:nvSpPr>
        <p:spPr>
          <a:xfrm>
            <a:off x="2743200" y="5054600"/>
            <a:ext cx="8890000" cy="863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>
              <a:buNone/>
            </a:pPr>
            <a:r>
              <a:rPr lang="zh-TW" altLang="en-US" sz="2200" b="1" dirty="0">
                <a:solidFill>
                  <a:srgbClr val="1F5A78"/>
                </a:solidFill>
                <a:latin typeface="微軟正黑體"/>
                <a:ea typeface="微軟正黑體"/>
              </a:rPr>
              <a:t>需要衛教說明 → 產出可帶走的資料</a:t>
            </a:r>
          </a:p>
          <a:p>
            <a:pPr algn="l">
              <a:buNone/>
            </a:pPr>
            <a:r>
              <a:rPr lang="zh-TW" altLang="en-US" sz="1800" dirty="0">
                <a:solidFill>
                  <a:srgbClr val="333333"/>
                </a:solidFill>
                <a:latin typeface="微軟正黑體"/>
                <a:ea typeface="微軟正黑體"/>
              </a:rPr>
              <a:t>請它整理成病患看得懂的衛教內容，直接印出來讓病患帶回家。</a:t>
            </a:r>
          </a:p>
        </p:txBody>
      </p:sp>
      <p:pic>
        <p:nvPicPr>
          <p:cNvPr id="20" name="Graphic 20" descr="聽診器圖示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01800" y="1841500"/>
            <a:ext cx="558800" cy="558800"/>
          </a:xfrm>
          <a:prstGeom prst="rect">
            <a:avLst/>
          </a:prstGeom>
        </p:spPr>
      </p:pic>
      <p:pic>
        <p:nvPicPr>
          <p:cNvPr id="21" name="Graphic 21" descr="藥物圖示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01800" y="3517900"/>
            <a:ext cx="558800" cy="558800"/>
          </a:xfrm>
          <a:prstGeom prst="rect">
            <a:avLst/>
          </a:prstGeom>
        </p:spPr>
      </p:pic>
      <p:pic>
        <p:nvPicPr>
          <p:cNvPr id="22" name="Graphic 22" descr="衛教資料圖示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01800" y="5207000"/>
            <a:ext cx="558800" cy="5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7767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A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/>
              <a:ea typeface="微軟正黑體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3A6B8A"/>
                </a:solidFill>
                <a:latin typeface="微軟正黑體"/>
                <a:ea typeface="微軟正黑體"/>
              </a:rPr>
              <a:t>第一段｜OpenEvidence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dirty="0" err="1">
                <a:solidFill>
                  <a:srgbClr val="0E2841"/>
                </a:solidFill>
                <a:latin typeface="微軟正黑體"/>
                <a:ea typeface="微軟正黑體"/>
              </a:rPr>
              <a:t>畫面認識</a:t>
            </a:r>
            <a:endParaRPr sz="2800" b="1" dirty="0">
              <a:solidFill>
                <a:srgbClr val="0E2841"/>
              </a:solidFill>
              <a:latin typeface="微軟正黑體"/>
              <a:ea typeface="微軟正黑體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/>
              <a:ea typeface="微軟正黑體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0" y="6492240"/>
            <a:ext cx="12191695" cy="18288"/>
          </a:xfrm>
          <a:prstGeom prst="rect">
            <a:avLst/>
          </a:prstGeom>
          <a:solidFill>
            <a:srgbClr val="3A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/>
              <a:ea typeface="微軟正黑體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02920" y="6547104"/>
            <a:ext cx="9144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5A6A7A"/>
                </a:solidFill>
                <a:latin typeface="微軟正黑體"/>
                <a:ea typeface="微軟正黑體"/>
              </a:rPr>
              <a:t>大台中診所協會 胡哲禎醫師 ｜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20095" y="6547104"/>
            <a:ext cx="914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5A6A7A"/>
                </a:solidFill>
                <a:latin typeface="微軟正黑體"/>
                <a:ea typeface="微軟正黑體"/>
              </a:rPr>
              <a:t>4</a:t>
            </a:r>
          </a:p>
        </p:txBody>
      </p:sp>
      <p:pic>
        <p:nvPicPr>
          <p:cNvPr id="29" name="圖片 28">
            <a:extLst>
              <a:ext uri="{FF2B5EF4-FFF2-40B4-BE49-F238E27FC236}">
                <a16:creationId xmlns:a16="http://schemas.microsoft.com/office/drawing/2014/main" id="{2740637C-41CC-6E4F-800B-ED74884FDC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353" y="137160"/>
            <a:ext cx="11330142" cy="6309360"/>
          </a:xfrm>
          <a:prstGeom prst="rect">
            <a:avLst/>
          </a:prstGeom>
        </p:spPr>
      </p:pic>
      <p:sp>
        <p:nvSpPr>
          <p:cNvPr id="31" name="矩形 30">
            <a:extLst>
              <a:ext uri="{FF2B5EF4-FFF2-40B4-BE49-F238E27FC236}">
                <a16:creationId xmlns:a16="http://schemas.microsoft.com/office/drawing/2014/main" id="{A7181EB9-EBA2-E1AB-DB47-4AB9C20CE0B5}"/>
              </a:ext>
            </a:extLst>
          </p:cNvPr>
          <p:cNvSpPr/>
          <p:nvPr/>
        </p:nvSpPr>
        <p:spPr>
          <a:xfrm>
            <a:off x="4203620" y="1519707"/>
            <a:ext cx="5443300" cy="104318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>
              <a:latin typeface="微軟正黑體"/>
              <a:ea typeface="微軟正黑體"/>
            </a:endParaRPr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AA885767-AF34-0B82-1F59-B3DB624C79C0}"/>
              </a:ext>
            </a:extLst>
          </p:cNvPr>
          <p:cNvSpPr txBox="1"/>
          <p:nvPr/>
        </p:nvSpPr>
        <p:spPr>
          <a:xfrm>
            <a:off x="8487506" y="1095511"/>
            <a:ext cx="13709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b="1" dirty="0">
                <a:solidFill>
                  <a:srgbClr val="FF0000"/>
                </a:solidFill>
                <a:latin typeface="微軟正黑體"/>
                <a:ea typeface="微軟正黑體"/>
              </a:rPr>
              <a:t>主對話區</a:t>
            </a:r>
          </a:p>
        </p:txBody>
      </p:sp>
      <p:sp>
        <p:nvSpPr>
          <p:cNvPr id="37" name="橢圓 36">
            <a:extLst>
              <a:ext uri="{FF2B5EF4-FFF2-40B4-BE49-F238E27FC236}">
                <a16:creationId xmlns:a16="http://schemas.microsoft.com/office/drawing/2014/main" id="{B6E24325-6FD5-8E42-9A0B-83AD32524B13}"/>
              </a:ext>
            </a:extLst>
          </p:cNvPr>
          <p:cNvSpPr/>
          <p:nvPr/>
        </p:nvSpPr>
        <p:spPr>
          <a:xfrm>
            <a:off x="368300" y="419100"/>
            <a:ext cx="1752600" cy="292100"/>
          </a:xfrm>
          <a:prstGeom prst="ellipse">
            <a:avLst/>
          </a:prstGeom>
          <a:noFill/>
          <a:ln w="28575" cap="flat" cmpd="sng" algn="ctr">
            <a:solidFill>
              <a:srgbClr val="E8332A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latin typeface="微軟正黑體"/>
              <a:ea typeface="微軟正黑體"/>
            </a:endParaRPr>
          </a:p>
        </p:txBody>
      </p:sp>
      <p:sp>
        <p:nvSpPr>
          <p:cNvPr id="38" name="文字方塊 37">
            <a:extLst>
              <a:ext uri="{FF2B5EF4-FFF2-40B4-BE49-F238E27FC236}">
                <a16:creationId xmlns:a16="http://schemas.microsoft.com/office/drawing/2014/main" id="{ABC1C92E-AFF2-914D-ADD0-8E6B83337465}"/>
              </a:ext>
            </a:extLst>
          </p:cNvPr>
          <p:cNvSpPr txBox="1"/>
          <p:nvPr/>
        </p:nvSpPr>
        <p:spPr>
          <a:xfrm>
            <a:off x="2070100" y="444500"/>
            <a:ext cx="1231900" cy="2667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r>
              <a:rPr lang="zh-TW" altLang="en-US" sz="2000" b="1" dirty="0">
                <a:solidFill>
                  <a:srgbClr val="E8332A"/>
                </a:solidFill>
                <a:latin typeface="微軟正黑體"/>
                <a:ea typeface="微軟正黑體"/>
              </a:rPr>
              <a:t>開始新對話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FD420FCA-1911-1544-809B-68DCEFD3E6DF}"/>
              </a:ext>
            </a:extLst>
          </p:cNvPr>
          <p:cNvSpPr/>
          <p:nvPr/>
        </p:nvSpPr>
        <p:spPr>
          <a:xfrm>
            <a:off x="368300" y="1397000"/>
            <a:ext cx="1701800" cy="4546600"/>
          </a:xfrm>
          <a:prstGeom prst="rect">
            <a:avLst/>
          </a:prstGeom>
          <a:noFill/>
          <a:ln w="28575" cap="flat" cmpd="sng" algn="ctr">
            <a:solidFill>
              <a:srgbClr val="E8332A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latin typeface="微軟正黑體"/>
              <a:ea typeface="微軟正黑體"/>
            </a:endParaRPr>
          </a:p>
        </p:txBody>
      </p:sp>
      <p:sp>
        <p:nvSpPr>
          <p:cNvPr id="40" name="文字方塊 39">
            <a:extLst>
              <a:ext uri="{FF2B5EF4-FFF2-40B4-BE49-F238E27FC236}">
                <a16:creationId xmlns:a16="http://schemas.microsoft.com/office/drawing/2014/main" id="{7E146A29-8CFB-5845-AA72-E0E8DDFEE216}"/>
              </a:ext>
            </a:extLst>
          </p:cNvPr>
          <p:cNvSpPr txBox="1"/>
          <p:nvPr/>
        </p:nvSpPr>
        <p:spPr>
          <a:xfrm>
            <a:off x="2070100" y="3319801"/>
            <a:ext cx="1270000" cy="2540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zh-TW" altLang="en-US" sz="2000" b="1" dirty="0">
                <a:solidFill>
                  <a:srgbClr val="E8332A"/>
                </a:solidFill>
                <a:latin typeface="微軟正黑體"/>
                <a:ea typeface="微軟正黑體"/>
              </a:rPr>
              <a:t>對話歷史區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1EA9EA17-DA43-AC41-A5CF-E8A26DF0D9DE}"/>
              </a:ext>
            </a:extLst>
          </p:cNvPr>
          <p:cNvSpPr/>
          <p:nvPr/>
        </p:nvSpPr>
        <p:spPr>
          <a:xfrm>
            <a:off x="4343399" y="2642495"/>
            <a:ext cx="2933163" cy="342900"/>
          </a:xfrm>
          <a:prstGeom prst="rect">
            <a:avLst/>
          </a:prstGeom>
          <a:noFill/>
          <a:ln w="28575" cap="flat" cmpd="sng" algn="ctr">
            <a:solidFill>
              <a:srgbClr val="E8332A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latin typeface="微軟正黑體"/>
              <a:ea typeface="微軟正黑體"/>
            </a:endParaRPr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2A953500-69FA-4A48-9E24-A05310D107DB}"/>
              </a:ext>
            </a:extLst>
          </p:cNvPr>
          <p:cNvSpPr txBox="1"/>
          <p:nvPr/>
        </p:nvSpPr>
        <p:spPr>
          <a:xfrm>
            <a:off x="7226300" y="2758827"/>
            <a:ext cx="1206500" cy="2540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zh-TW" altLang="en-US" sz="2000" b="1" dirty="0">
                <a:solidFill>
                  <a:srgbClr val="E8332A"/>
                </a:solidFill>
                <a:latin typeface="微軟正黑體"/>
                <a:ea typeface="微軟正黑體"/>
              </a:rPr>
              <a:t>這是功能區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FE9E96A3-9DC4-B847-AD22-4501C9024F06}"/>
              </a:ext>
            </a:extLst>
          </p:cNvPr>
          <p:cNvSpPr/>
          <p:nvPr/>
        </p:nvSpPr>
        <p:spPr>
          <a:xfrm>
            <a:off x="8470900" y="2057400"/>
            <a:ext cx="304800" cy="304800"/>
          </a:xfrm>
          <a:prstGeom prst="rect">
            <a:avLst/>
          </a:prstGeom>
          <a:noFill/>
          <a:ln w="28575" cap="flat" cmpd="sng" algn="ctr">
            <a:solidFill>
              <a:srgbClr val="E8332A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latin typeface="微軟正黑體"/>
              <a:ea typeface="微軟正黑體"/>
            </a:endParaRPr>
          </a:p>
        </p:txBody>
      </p:sp>
      <p:cxnSp>
        <p:nvCxnSpPr>
          <p:cNvPr id="44" name="直線箭頭接點 43">
            <a:extLst>
              <a:ext uri="{FF2B5EF4-FFF2-40B4-BE49-F238E27FC236}">
                <a16:creationId xmlns:a16="http://schemas.microsoft.com/office/drawing/2014/main" id="{CF015E23-387C-C448-ADF9-7035F260D903}"/>
              </a:ext>
            </a:extLst>
          </p:cNvPr>
          <p:cNvCxnSpPr/>
          <p:nvPr/>
        </p:nvCxnSpPr>
        <p:spPr>
          <a:xfrm>
            <a:off x="8623300" y="2387600"/>
            <a:ext cx="1219200" cy="406400"/>
          </a:xfrm>
          <a:prstGeom prst="straightConnector1">
            <a:avLst/>
          </a:prstGeom>
          <a:ln w="19050" cap="flat" cmpd="sng" algn="ctr">
            <a:solidFill>
              <a:srgbClr val="E8332A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文字方塊 44">
            <a:extLst>
              <a:ext uri="{FF2B5EF4-FFF2-40B4-BE49-F238E27FC236}">
                <a16:creationId xmlns:a16="http://schemas.microsoft.com/office/drawing/2014/main" id="{25D61CBC-98A9-EB47-882B-258BD28BC111}"/>
              </a:ext>
            </a:extLst>
          </p:cNvPr>
          <p:cNvSpPr txBox="1"/>
          <p:nvPr/>
        </p:nvSpPr>
        <p:spPr>
          <a:xfrm>
            <a:off x="9817100" y="2692400"/>
            <a:ext cx="1930400" cy="2540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zh-TW" altLang="en-US" b="1" dirty="0">
                <a:solidFill>
                  <a:srgbClr val="E8332A"/>
                </a:solidFill>
                <a:latin typeface="微軟正黑體"/>
                <a:ea typeface="微軟正黑體"/>
              </a:rPr>
              <a:t>語音轉譯功能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A747CE93-F9FF-3543-87EA-B52D0494AA0D}"/>
              </a:ext>
            </a:extLst>
          </p:cNvPr>
          <p:cNvSpPr/>
          <p:nvPr/>
        </p:nvSpPr>
        <p:spPr>
          <a:xfrm>
            <a:off x="9118600" y="2057400"/>
            <a:ext cx="304800" cy="304800"/>
          </a:xfrm>
          <a:prstGeom prst="rect">
            <a:avLst/>
          </a:prstGeom>
          <a:noFill/>
          <a:ln w="28575" cap="flat" cmpd="sng" algn="ctr">
            <a:solidFill>
              <a:srgbClr val="E8332A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>
              <a:latin typeface="微軟正黑體"/>
              <a:ea typeface="微軟正黑體"/>
            </a:endParaRPr>
          </a:p>
        </p:txBody>
      </p:sp>
      <p:cxnSp>
        <p:nvCxnSpPr>
          <p:cNvPr id="47" name="直線箭頭接點 46">
            <a:extLst>
              <a:ext uri="{FF2B5EF4-FFF2-40B4-BE49-F238E27FC236}">
                <a16:creationId xmlns:a16="http://schemas.microsoft.com/office/drawing/2014/main" id="{BDC4EA0C-43F3-B44E-8FCB-7F8339BD1DEA}"/>
              </a:ext>
            </a:extLst>
          </p:cNvPr>
          <p:cNvCxnSpPr/>
          <p:nvPr/>
        </p:nvCxnSpPr>
        <p:spPr>
          <a:xfrm>
            <a:off x="9448800" y="2387600"/>
            <a:ext cx="368300" cy="1092200"/>
          </a:xfrm>
          <a:prstGeom prst="straightConnector1">
            <a:avLst/>
          </a:prstGeom>
          <a:ln w="19050" cap="flat" cmpd="sng" algn="ctr">
            <a:solidFill>
              <a:srgbClr val="E8332A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文字方塊 47">
            <a:extLst>
              <a:ext uri="{FF2B5EF4-FFF2-40B4-BE49-F238E27FC236}">
                <a16:creationId xmlns:a16="http://schemas.microsoft.com/office/drawing/2014/main" id="{0D548D5D-3D8B-1343-8F7C-5D7D7C6A82F6}"/>
              </a:ext>
            </a:extLst>
          </p:cNvPr>
          <p:cNvSpPr txBox="1"/>
          <p:nvPr/>
        </p:nvSpPr>
        <p:spPr>
          <a:xfrm>
            <a:off x="9817100" y="3352800"/>
            <a:ext cx="1930400" cy="2540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zh-TW" altLang="en-US" b="1" dirty="0">
                <a:solidFill>
                  <a:srgbClr val="E8332A"/>
                </a:solidFill>
                <a:latin typeface="微軟正黑體"/>
                <a:ea typeface="微軟正黑體"/>
              </a:rPr>
              <a:t>直接對話功能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/>
              <a:ea typeface="微軟正黑體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E97132"/>
                </a:solidFill>
                <a:latin typeface="微軟正黑體"/>
                <a:ea typeface="微軟正黑體"/>
              </a:rPr>
              <a:t>換你們操作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86868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0E2841"/>
                </a:solidFill>
                <a:latin typeface="微軟正黑體"/>
                <a:ea typeface="微軟正黑體"/>
              </a:rPr>
              <a:t>OpenEvidence：問完一題並核對引用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80467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sz="1800" b="0" dirty="0">
                <a:solidFill>
                  <a:srgbClr val="1A2A3A"/>
                </a:solidFill>
                <a:latin typeface="微軟正黑體"/>
                <a:ea typeface="微軟正黑體"/>
              </a:rPr>
              <a:t>•  </a:t>
            </a:r>
            <a:r>
              <a:rPr sz="1800" b="0" dirty="0" err="1">
                <a:solidFill>
                  <a:srgbClr val="1A2A3A"/>
                </a:solidFill>
                <a:latin typeface="微軟正黑體"/>
                <a:ea typeface="微軟正黑體"/>
              </a:rPr>
              <a:t>自選</a:t>
            </a:r>
            <a:r>
              <a:rPr sz="1800" b="0" dirty="0">
                <a:solidFill>
                  <a:srgbClr val="1A2A3A"/>
                </a:solidFill>
                <a:latin typeface="微軟正黑體"/>
                <a:ea typeface="微軟正黑體"/>
              </a:rPr>
              <a:t> 1 </a:t>
            </a:r>
            <a:r>
              <a:rPr sz="1800" b="0" dirty="0" err="1">
                <a:solidFill>
                  <a:srgbClr val="1A2A3A"/>
                </a:solidFill>
                <a:latin typeface="微軟正黑體"/>
                <a:ea typeface="微軟正黑體"/>
              </a:rPr>
              <a:t>個</a:t>
            </a:r>
            <a:r>
              <a:rPr lang="zh-TW" altLang="en-US" dirty="0">
                <a:solidFill>
                  <a:srgbClr val="1A2A3A"/>
                </a:solidFill>
                <a:latin typeface="微軟正黑體"/>
                <a:ea typeface="微軟正黑體"/>
              </a:rPr>
              <a:t>看診</a:t>
            </a:r>
            <a:r>
              <a:rPr sz="1800" b="0" dirty="0" err="1">
                <a:solidFill>
                  <a:srgbClr val="1A2A3A"/>
                </a:solidFill>
                <a:latin typeface="微軟正黑體"/>
                <a:ea typeface="微軟正黑體"/>
              </a:rPr>
              <a:t>常見問題（呼吸道／腸胃／三高擇一</a:t>
            </a:r>
            <a:r>
              <a:rPr sz="1800" b="0" dirty="0">
                <a:solidFill>
                  <a:srgbClr val="1A2A3A"/>
                </a:solidFill>
                <a:latin typeface="微軟正黑體"/>
                <a:ea typeface="微軟正黑體"/>
              </a:rPr>
              <a:t>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468880"/>
            <a:ext cx="80467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>
                <a:solidFill>
                  <a:srgbClr val="1A2A3A"/>
                </a:solidFill>
                <a:latin typeface="微軟正黑體"/>
                <a:ea typeface="微軟正黑體"/>
              </a:rPr>
              <a:t>•  用「特徵＋任務＋產出」提問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108960"/>
            <a:ext cx="80467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dirty="0">
                <a:solidFill>
                  <a:srgbClr val="1A2A3A"/>
                </a:solidFill>
                <a:latin typeface="微軟正黑體"/>
                <a:ea typeface="微軟正黑體"/>
              </a:rPr>
              <a:t>•  </a:t>
            </a:r>
            <a:r>
              <a:rPr sz="1800" b="0" dirty="0" err="1">
                <a:solidFill>
                  <a:srgbClr val="1A2A3A"/>
                </a:solidFill>
                <a:latin typeface="微軟正黑體"/>
                <a:ea typeface="微軟正黑體"/>
              </a:rPr>
              <a:t>點開至少</a:t>
            </a:r>
            <a:r>
              <a:rPr sz="1800" b="0" dirty="0">
                <a:solidFill>
                  <a:srgbClr val="1A2A3A"/>
                </a:solidFill>
                <a:latin typeface="微軟正黑體"/>
                <a:ea typeface="微軟正黑體"/>
              </a:rPr>
              <a:t> 1 </a:t>
            </a:r>
            <a:r>
              <a:rPr sz="1800" b="0" dirty="0" err="1">
                <a:solidFill>
                  <a:srgbClr val="1A2A3A"/>
                </a:solidFill>
                <a:latin typeface="微軟正黑體"/>
                <a:ea typeface="微軟正黑體"/>
              </a:rPr>
              <a:t>個引用，判斷能不能用</a:t>
            </a:r>
            <a:endParaRPr sz="1800" b="0" dirty="0">
              <a:solidFill>
                <a:srgbClr val="1A2A3A"/>
              </a:solidFill>
              <a:latin typeface="微軟正黑體"/>
              <a:ea typeface="微軟正黑體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0080" y="3749039"/>
            <a:ext cx="80467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>
                <a:solidFill>
                  <a:srgbClr val="1A2A3A"/>
                </a:solidFill>
                <a:latin typeface="微軟正黑體"/>
                <a:ea typeface="微軟正黑體"/>
              </a:rPr>
              <a:t>•  可選：請它產出一頁衛教草稿，再人工改白話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89720" y="1828800"/>
            <a:ext cx="2606040" cy="2331720"/>
          </a:xfrm>
          <a:prstGeom prst="roundRect">
            <a:avLst>
              <a:gd name="adj" fmla="val 8000"/>
            </a:avLst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/>
              <a:ea typeface="微軟正黑體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326880" y="2331720"/>
            <a:ext cx="2331720" cy="7772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3200" b="1">
                <a:solidFill>
                  <a:srgbClr val="FFFFFF"/>
                </a:solidFill>
                <a:latin typeface="微軟正黑體"/>
                <a:ea typeface="微軟正黑體"/>
              </a:rPr>
              <a:t>15 分鐘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0" y="3154680"/>
            <a:ext cx="23317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0">
                <a:solidFill>
                  <a:srgbClr val="FFFFFF"/>
                </a:solidFill>
                <a:latin typeface="微軟正黑體"/>
                <a:ea typeface="微軟正黑體"/>
              </a:rPr>
              <a:t>操作時間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/>
              <a:ea typeface="微軟正黑體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0" y="6492240"/>
            <a:ext cx="12191695" cy="18288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/>
              <a:ea typeface="微軟正黑體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02920" y="6547104"/>
            <a:ext cx="9144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5A6A7A"/>
                </a:solidFill>
                <a:latin typeface="微軟正黑體"/>
                <a:ea typeface="微軟正黑體"/>
              </a:rPr>
              <a:t>大台中診所協會 胡哲禎醫師 ｜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20095" y="6547104"/>
            <a:ext cx="914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5A6A7A"/>
                </a:solidFill>
                <a:latin typeface="微軟正黑體"/>
                <a:ea typeface="微軟正黑體"/>
              </a:rPr>
              <a:t>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86F4ACD-35B1-C413-0AF2-D3F4D26B5A7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zh-TW" altLang="en-US" b="1" dirty="0"/>
              <a:t>分析營運資料</a:t>
            </a:r>
            <a:r>
              <a:rPr kumimoji="1" lang="en-US" altLang="zh-TW" b="1" dirty="0"/>
              <a:t>(</a:t>
            </a:r>
            <a:r>
              <a:rPr kumimoji="1" lang="zh-TW" altLang="en-US" b="1" dirty="0"/>
              <a:t>注意個資問題</a:t>
            </a:r>
            <a:r>
              <a:rPr kumimoji="1" lang="en-US" altLang="zh-TW" b="1" dirty="0"/>
              <a:t>)</a:t>
            </a:r>
            <a:endParaRPr kumimoji="1" lang="zh-TW" altLang="en-US" b="1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331AB254-1570-FD68-1F3F-ACE76330715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zh-TW" altLang="en-US" dirty="0"/>
              <a:t>以健保申報檔出發</a:t>
            </a:r>
          </a:p>
        </p:txBody>
      </p:sp>
    </p:spTree>
    <p:extLst>
      <p:ext uri="{BB962C8B-B14F-4D97-AF65-F5344CB8AC3E}">
        <p14:creationId xmlns:p14="http://schemas.microsoft.com/office/powerpoint/2010/main" val="22052824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/>
              <a:ea typeface="微軟正黑體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8000" y="254000"/>
            <a:ext cx="11150600" cy="2921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300"/>
              </a:spcBef>
              <a:buNone/>
            </a:pPr>
            <a:r>
              <a:rPr lang="zh-TW" altLang="en-US" sz="1300" b="1" dirty="0">
                <a:solidFill>
                  <a:srgbClr val="156082"/>
                </a:solidFill>
                <a:latin typeface="微軟正黑體"/>
                <a:ea typeface="微軟正黑體"/>
              </a:rPr>
              <a:t>第二段｜健保申報檔資料分析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533400"/>
            <a:ext cx="11150600" cy="533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300"/>
              </a:spcBef>
              <a:buNone/>
            </a:pPr>
            <a:r>
              <a:rPr lang="zh-TW" altLang="en-US" sz="2800" b="1" dirty="0">
                <a:solidFill>
                  <a:srgbClr val="0E2841"/>
                </a:solidFill>
                <a:latin typeface="微軟正黑體"/>
                <a:ea typeface="微軟正黑體"/>
              </a:rPr>
              <a:t>個資保護：資料不出診所，要出去先去識別化</a:t>
            </a:r>
          </a:p>
        </p:txBody>
      </p:sp>
      <p:sp>
        <p:nvSpPr>
          <p:cNvPr id="10" name="Card 1"/>
          <p:cNvSpPr/>
          <p:nvPr/>
        </p:nvSpPr>
        <p:spPr>
          <a:xfrm>
            <a:off x="508000" y="1651000"/>
            <a:ext cx="3581400" cy="3657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/>
              <a:ea typeface="微軟正黑體"/>
            </a:endParaRPr>
          </a:p>
        </p:txBody>
      </p:sp>
      <p:sp>
        <p:nvSpPr>
          <p:cNvPr id="13" name="CardBar 1"/>
          <p:cNvSpPr/>
          <p:nvPr/>
        </p:nvSpPr>
        <p:spPr>
          <a:xfrm>
            <a:off x="508000" y="1651000"/>
            <a:ext cx="3581400" cy="7620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/>
              <a:ea typeface="微軟正黑體"/>
            </a:endParaRPr>
          </a:p>
        </p:txBody>
      </p:sp>
      <p:sp>
        <p:nvSpPr>
          <p:cNvPr id="11" name="CardTitle 1"/>
          <p:cNvSpPr txBox="1"/>
          <p:nvPr/>
        </p:nvSpPr>
        <p:spPr>
          <a:xfrm>
            <a:off x="787400" y="1879600"/>
            <a:ext cx="3022600" cy="406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300"/>
              </a:spcBef>
              <a:buNone/>
            </a:pPr>
            <a:r>
              <a:rPr lang="zh-TW" altLang="en-US" sz="1800" b="1" dirty="0">
                <a:solidFill>
                  <a:srgbClr val="156082"/>
                </a:solidFill>
                <a:latin typeface="微軟正黑體"/>
                <a:ea typeface="微軟正黑體"/>
              </a:rPr>
              <a:t>① 資料留在診所</a:t>
            </a:r>
          </a:p>
        </p:txBody>
      </p:sp>
      <p:sp>
        <p:nvSpPr>
          <p:cNvPr id="12" name="CardBody 1"/>
          <p:cNvSpPr txBox="1"/>
          <p:nvPr/>
        </p:nvSpPr>
        <p:spPr>
          <a:xfrm>
            <a:off x="787400" y="2387600"/>
            <a:ext cx="3022600" cy="2730500"/>
          </a:xfrm>
          <a:prstGeom prst="rect">
            <a:avLst/>
          </a:prstGeom>
          <a:noFill/>
        </p:spPr>
        <p:txBody>
          <a:bodyPr wrap="square" anchor="t"/>
          <a:lstStyle/>
          <a:p>
            <a:pPr marL="190500" indent="-190500" algn="l">
              <a:lnSpc>
                <a:spcPct val="105000"/>
              </a:lnSpc>
              <a:spcBef>
                <a:spcPts val="500"/>
              </a:spcBef>
              <a:buFont typeface="Arial"/>
              <a:buChar char="•"/>
            </a:pPr>
            <a:r>
              <a:rPr lang="zh-TW" altLang="en-US" sz="1500" b="0" dirty="0">
                <a:solidFill>
                  <a:srgbClr val="1A2A3A"/>
                </a:solidFill>
                <a:latin typeface="微軟正黑體"/>
                <a:ea typeface="微軟正黑體"/>
              </a:rPr>
              <a:t>病歷、申報檔只存放在診所內部電腦</a:t>
            </a:r>
          </a:p>
          <a:p>
            <a:pPr marL="190500" indent="-190500" algn="l">
              <a:lnSpc>
                <a:spcPct val="105000"/>
              </a:lnSpc>
              <a:spcBef>
                <a:spcPts val="500"/>
              </a:spcBef>
              <a:buFont typeface="Arial"/>
              <a:buChar char="•"/>
            </a:pPr>
            <a:r>
              <a:rPr lang="zh-TW" altLang="en-US" sz="1500" b="0" dirty="0">
                <a:solidFill>
                  <a:srgbClr val="1A2A3A"/>
                </a:solidFill>
                <a:latin typeface="微軟正黑體"/>
                <a:ea typeface="微軟正黑體"/>
              </a:rPr>
              <a:t>不上傳雲端、不寄 email、不存個人手機或隨身碟</a:t>
            </a:r>
          </a:p>
          <a:p>
            <a:pPr marL="190500" indent="-190500" algn="l">
              <a:lnSpc>
                <a:spcPct val="105000"/>
              </a:lnSpc>
              <a:spcBef>
                <a:spcPts val="500"/>
              </a:spcBef>
              <a:buFont typeface="Arial"/>
              <a:buChar char="•"/>
            </a:pPr>
            <a:r>
              <a:rPr lang="zh-TW" altLang="en-US" sz="1500" b="0" dirty="0">
                <a:solidFill>
                  <a:srgbClr val="1A2A3A"/>
                </a:solidFill>
                <a:latin typeface="微軟正黑體"/>
                <a:ea typeface="微軟正黑體"/>
              </a:rPr>
              <a:t>電腦設密碼、依職務分權限、定期離線備份</a:t>
            </a:r>
          </a:p>
          <a:p>
            <a:pPr marL="190500" indent="-190500" algn="l">
              <a:lnSpc>
                <a:spcPct val="105000"/>
              </a:lnSpc>
              <a:spcBef>
                <a:spcPts val="500"/>
              </a:spcBef>
              <a:buFont typeface="Arial"/>
              <a:buChar char="•"/>
            </a:pPr>
            <a:r>
              <a:rPr lang="zh-TW" altLang="en-US" sz="1500" b="0" dirty="0">
                <a:solidFill>
                  <a:srgbClr val="1A2A3A"/>
                </a:solidFill>
                <a:latin typeface="微軟正黑體"/>
                <a:ea typeface="微軟正黑體"/>
              </a:rPr>
              <a:t>離職人員立即取消帳號權限</a:t>
            </a:r>
          </a:p>
          <a:p>
            <a:pPr marL="190500" indent="-190500" algn="l">
              <a:lnSpc>
                <a:spcPct val="105000"/>
              </a:lnSpc>
              <a:spcBef>
                <a:spcPts val="500"/>
              </a:spcBef>
              <a:buFont typeface="Arial"/>
              <a:buChar char="•"/>
            </a:pPr>
            <a:r>
              <a:rPr lang="zh-TW" altLang="en-US" sz="1500" b="0" dirty="0">
                <a:solidFill>
                  <a:srgbClr val="1A2A3A"/>
                </a:solidFill>
                <a:latin typeface="微軟正黑體"/>
                <a:ea typeface="微軟正黑體"/>
              </a:rPr>
              <a:t>外部廠商維護需簽保密約定並留紀錄</a:t>
            </a:r>
          </a:p>
        </p:txBody>
      </p:sp>
      <p:sp>
        <p:nvSpPr>
          <p:cNvPr id="20" name="Card 2"/>
          <p:cNvSpPr/>
          <p:nvPr/>
        </p:nvSpPr>
        <p:spPr>
          <a:xfrm>
            <a:off x="4292600" y="1651000"/>
            <a:ext cx="3581400" cy="3657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/>
              <a:ea typeface="微軟正黑體"/>
            </a:endParaRPr>
          </a:p>
        </p:txBody>
      </p:sp>
      <p:sp>
        <p:nvSpPr>
          <p:cNvPr id="23" name="CardBar 2"/>
          <p:cNvSpPr/>
          <p:nvPr/>
        </p:nvSpPr>
        <p:spPr>
          <a:xfrm>
            <a:off x="4292600" y="1651000"/>
            <a:ext cx="3581400" cy="7620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/>
              <a:ea typeface="微軟正黑體"/>
            </a:endParaRPr>
          </a:p>
        </p:txBody>
      </p:sp>
      <p:sp>
        <p:nvSpPr>
          <p:cNvPr id="21" name="CardTitle 2"/>
          <p:cNvSpPr txBox="1"/>
          <p:nvPr/>
        </p:nvSpPr>
        <p:spPr>
          <a:xfrm>
            <a:off x="4572000" y="1879600"/>
            <a:ext cx="3022600" cy="406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300"/>
              </a:spcBef>
              <a:buNone/>
            </a:pPr>
            <a:r>
              <a:rPr lang="zh-TW" altLang="en-US" sz="1800" b="1" dirty="0">
                <a:solidFill>
                  <a:srgbClr val="156082"/>
                </a:solidFill>
                <a:latin typeface="微軟正黑體"/>
                <a:ea typeface="微軟正黑體"/>
              </a:rPr>
              <a:t>② 要上雲，先去識別化</a:t>
            </a:r>
          </a:p>
        </p:txBody>
      </p:sp>
      <p:sp>
        <p:nvSpPr>
          <p:cNvPr id="22" name="CardBody 2"/>
          <p:cNvSpPr txBox="1"/>
          <p:nvPr/>
        </p:nvSpPr>
        <p:spPr>
          <a:xfrm>
            <a:off x="4572000" y="2387600"/>
            <a:ext cx="3022600" cy="2730500"/>
          </a:xfrm>
          <a:prstGeom prst="rect">
            <a:avLst/>
          </a:prstGeom>
          <a:noFill/>
        </p:spPr>
        <p:txBody>
          <a:bodyPr wrap="square" anchor="t"/>
          <a:lstStyle/>
          <a:p>
            <a:pPr marL="190500" indent="-190500" algn="l">
              <a:lnSpc>
                <a:spcPct val="105000"/>
              </a:lnSpc>
              <a:spcBef>
                <a:spcPts val="500"/>
              </a:spcBef>
              <a:buFont typeface="Arial"/>
              <a:buChar char="•"/>
            </a:pPr>
            <a:r>
              <a:rPr lang="zh-TW" altLang="en-US" sz="1500" b="0" dirty="0">
                <a:solidFill>
                  <a:srgbClr val="1A2A3A"/>
                </a:solidFill>
                <a:latin typeface="微軟正黑體"/>
                <a:ea typeface="微軟正黑體"/>
              </a:rPr>
              <a:t>移除姓名、身分證號、病歷號、生日、電話、地址</a:t>
            </a:r>
          </a:p>
          <a:p>
            <a:pPr marL="190500" indent="-190500" algn="l">
              <a:lnSpc>
                <a:spcPct val="105000"/>
              </a:lnSpc>
              <a:spcBef>
                <a:spcPts val="500"/>
              </a:spcBef>
              <a:buFont typeface="Arial"/>
              <a:buChar char="•"/>
            </a:pPr>
            <a:r>
              <a:rPr lang="zh-TW" altLang="en-US" sz="1500" b="0" dirty="0">
                <a:solidFill>
                  <a:srgbClr val="1A2A3A"/>
                </a:solidFill>
                <a:latin typeface="微軟正黑體"/>
                <a:ea typeface="微軟正黑體"/>
              </a:rPr>
              <a:t>以代碼取代，對照表留在診所、不隨資料外流</a:t>
            </a:r>
          </a:p>
          <a:p>
            <a:pPr marL="190500" indent="-190500" algn="l">
              <a:lnSpc>
                <a:spcPct val="105000"/>
              </a:lnSpc>
              <a:spcBef>
                <a:spcPts val="500"/>
              </a:spcBef>
              <a:buFont typeface="Arial"/>
              <a:buChar char="•"/>
            </a:pPr>
            <a:r>
              <a:rPr lang="zh-TW" altLang="en-US" sz="1500" b="0" dirty="0">
                <a:solidFill>
                  <a:srgbClr val="1A2A3A"/>
                </a:solidFill>
                <a:latin typeface="微軟正黑體"/>
                <a:ea typeface="微軟正黑體"/>
              </a:rPr>
              <a:t>只上傳分析必要欄位：年齡層、性別、診斷、費用</a:t>
            </a:r>
          </a:p>
          <a:p>
            <a:pPr marL="190500" indent="-190500" algn="l">
              <a:lnSpc>
                <a:spcPct val="105000"/>
              </a:lnSpc>
              <a:spcBef>
                <a:spcPts val="500"/>
              </a:spcBef>
              <a:buFont typeface="Arial"/>
              <a:buChar char="•"/>
            </a:pPr>
            <a:r>
              <a:rPr lang="zh-TW" altLang="en-US" sz="1500" b="0" dirty="0">
                <a:solidFill>
                  <a:srgbClr val="1A2A3A"/>
                </a:solidFill>
                <a:latin typeface="微軟正黑體"/>
                <a:ea typeface="微軟正黑體"/>
              </a:rPr>
              <a:t>稀有病例、極端值可能反推出身分，需特別注意</a:t>
            </a:r>
          </a:p>
          <a:p>
            <a:pPr marL="190500" indent="-190500" algn="l">
              <a:lnSpc>
                <a:spcPct val="105000"/>
              </a:lnSpc>
              <a:spcBef>
                <a:spcPts val="500"/>
              </a:spcBef>
              <a:buFont typeface="Arial"/>
              <a:buChar char="•"/>
            </a:pPr>
            <a:r>
              <a:rPr lang="zh-TW" altLang="en-US" sz="1500" b="0" dirty="0">
                <a:solidFill>
                  <a:srgbClr val="1A2A3A"/>
                </a:solidFill>
                <a:latin typeface="微軟正黑體"/>
                <a:ea typeface="微軟正黑體"/>
              </a:rPr>
              <a:t>上傳前先抽樣檢查，確認無可識別欄位殘留</a:t>
            </a:r>
          </a:p>
        </p:txBody>
      </p:sp>
      <p:sp>
        <p:nvSpPr>
          <p:cNvPr id="30" name="Card 3"/>
          <p:cNvSpPr/>
          <p:nvPr/>
        </p:nvSpPr>
        <p:spPr>
          <a:xfrm>
            <a:off x="8077200" y="1651000"/>
            <a:ext cx="3581400" cy="3657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/>
              <a:ea typeface="微軟正黑體"/>
            </a:endParaRPr>
          </a:p>
        </p:txBody>
      </p:sp>
      <p:sp>
        <p:nvSpPr>
          <p:cNvPr id="33" name="CardBar 3"/>
          <p:cNvSpPr/>
          <p:nvPr/>
        </p:nvSpPr>
        <p:spPr>
          <a:xfrm>
            <a:off x="8077200" y="1651000"/>
            <a:ext cx="3581400" cy="7620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/>
              <a:ea typeface="微軟正黑體"/>
            </a:endParaRPr>
          </a:p>
        </p:txBody>
      </p:sp>
      <p:sp>
        <p:nvSpPr>
          <p:cNvPr id="31" name="CardTitle 3"/>
          <p:cNvSpPr txBox="1"/>
          <p:nvPr/>
        </p:nvSpPr>
        <p:spPr>
          <a:xfrm>
            <a:off x="8356600" y="1879600"/>
            <a:ext cx="3022600" cy="406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300"/>
              </a:spcBef>
              <a:buNone/>
            </a:pPr>
            <a:r>
              <a:rPr lang="zh-TW" altLang="en-US" sz="1800" b="1" dirty="0">
                <a:solidFill>
                  <a:srgbClr val="156082"/>
                </a:solidFill>
                <a:latin typeface="微軟正黑體"/>
                <a:ea typeface="微軟正黑體"/>
              </a:rPr>
              <a:t>③ 法規與罰則摘要</a:t>
            </a:r>
          </a:p>
        </p:txBody>
      </p:sp>
      <p:sp>
        <p:nvSpPr>
          <p:cNvPr id="32" name="CardBody 3"/>
          <p:cNvSpPr txBox="1"/>
          <p:nvPr/>
        </p:nvSpPr>
        <p:spPr>
          <a:xfrm>
            <a:off x="8356600" y="2387600"/>
            <a:ext cx="3022600" cy="2730500"/>
          </a:xfrm>
          <a:prstGeom prst="rect">
            <a:avLst/>
          </a:prstGeom>
          <a:noFill/>
        </p:spPr>
        <p:txBody>
          <a:bodyPr wrap="square" anchor="t"/>
          <a:lstStyle/>
          <a:p>
            <a:pPr marL="190500" indent="-190500" algn="l">
              <a:lnSpc>
                <a:spcPct val="105000"/>
              </a:lnSpc>
              <a:spcBef>
                <a:spcPts val="500"/>
              </a:spcBef>
              <a:buFont typeface="Arial"/>
              <a:buChar char="•"/>
            </a:pPr>
            <a:r>
              <a:rPr lang="zh-TW" altLang="en-US" sz="1400" b="0" dirty="0">
                <a:solidFill>
                  <a:srgbClr val="1A2A3A"/>
                </a:solidFill>
                <a:latin typeface="微軟正黑體"/>
                <a:ea typeface="微軟正黑體"/>
              </a:rPr>
              <a:t>個資法：病歷、醫療資料屬特種個資，蒐集利用受第 6 條限制</a:t>
            </a:r>
          </a:p>
          <a:p>
            <a:pPr marL="190500" indent="-190500" algn="l">
              <a:lnSpc>
                <a:spcPct val="105000"/>
              </a:lnSpc>
              <a:spcBef>
                <a:spcPts val="500"/>
              </a:spcBef>
              <a:buFont typeface="Arial"/>
              <a:buChar char="•"/>
            </a:pPr>
            <a:r>
              <a:rPr lang="zh-TW" altLang="en-US" sz="1400" b="0" dirty="0">
                <a:solidFill>
                  <a:srgbClr val="1A2A3A"/>
                </a:solidFill>
                <a:latin typeface="微軟正黑體"/>
                <a:ea typeface="微軟正黑體"/>
              </a:rPr>
              <a:t>第 48 條：未採適當安全措施，罰 2 萬–200 萬並限期改正；情節重大或屆期未改正，15 萬–1,500 萬，得按次處罰</a:t>
            </a:r>
          </a:p>
          <a:p>
            <a:pPr marL="190500" indent="-190500" algn="l">
              <a:lnSpc>
                <a:spcPct val="105000"/>
              </a:lnSpc>
              <a:spcBef>
                <a:spcPts val="500"/>
              </a:spcBef>
              <a:buFont typeface="Arial"/>
              <a:buChar char="•"/>
            </a:pPr>
            <a:r>
              <a:rPr lang="zh-TW" altLang="en-US" sz="1400" b="0" dirty="0">
                <a:solidFill>
                  <a:srgbClr val="1A2A3A"/>
                </a:solidFill>
                <a:latin typeface="微軟正黑體"/>
                <a:ea typeface="微軟正黑體"/>
              </a:rPr>
              <a:t>第 41 條：意圖不法利益而違法利用個資，5 年以下有期徒刑、併科 100 萬以下罰金</a:t>
            </a:r>
          </a:p>
          <a:p>
            <a:pPr marL="190500" indent="-190500" algn="l">
              <a:lnSpc>
                <a:spcPct val="105000"/>
              </a:lnSpc>
              <a:spcBef>
                <a:spcPts val="500"/>
              </a:spcBef>
              <a:buFont typeface="Arial"/>
              <a:buChar char="•"/>
            </a:pPr>
            <a:r>
              <a:rPr lang="zh-TW" altLang="en-US" sz="1400" b="0" dirty="0">
                <a:solidFill>
                  <a:srgbClr val="1A2A3A"/>
                </a:solidFill>
                <a:latin typeface="微軟正黑體"/>
                <a:ea typeface="微軟正黑體"/>
              </a:rPr>
              <a:t>醫療法、醫師法另訂保密義務，違反另有責任</a:t>
            </a:r>
          </a:p>
        </p:txBody>
      </p:sp>
      <p:sp>
        <p:nvSpPr>
          <p:cNvPr id="40" name="KeyNote"/>
          <p:cNvSpPr txBox="1"/>
          <p:nvPr/>
        </p:nvSpPr>
        <p:spPr>
          <a:xfrm>
            <a:off x="508000" y="5537200"/>
            <a:ext cx="11150600" cy="304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300"/>
              </a:spcBef>
              <a:buNone/>
            </a:pPr>
            <a:r>
              <a:rPr lang="zh-TW" altLang="en-US" sz="1600" b="1" dirty="0">
                <a:solidFill>
                  <a:srgbClr val="156082"/>
                </a:solidFill>
                <a:latin typeface="微軟正黑體"/>
                <a:ea typeface="微軟正黑體"/>
              </a:rPr>
              <a:t>原則：資料不出診所；真的要出去，就先去識別化。</a:t>
            </a:r>
          </a:p>
        </p:txBody>
      </p:sp>
      <p:sp>
        <p:nvSpPr>
          <p:cNvPr id="50" name="FooterBand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/>
              <a:ea typeface="微軟正黑體"/>
            </a:endParaRPr>
          </a:p>
        </p:txBody>
      </p:sp>
      <p:sp>
        <p:nvSpPr>
          <p:cNvPr id="51" name="FooterLine"/>
          <p:cNvSpPr/>
          <p:nvPr/>
        </p:nvSpPr>
        <p:spPr>
          <a:xfrm>
            <a:off x="0" y="6492240"/>
            <a:ext cx="12191695" cy="18288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/>
              <a:ea typeface="微軟正黑體"/>
            </a:endParaRPr>
          </a:p>
        </p:txBody>
      </p:sp>
      <p:sp>
        <p:nvSpPr>
          <p:cNvPr id="52" name="FooterText"/>
          <p:cNvSpPr txBox="1"/>
          <p:nvPr/>
        </p:nvSpPr>
        <p:spPr>
          <a:xfrm>
            <a:off x="508000" y="6546850"/>
            <a:ext cx="9144000" cy="254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300"/>
              </a:spcBef>
              <a:buNone/>
            </a:pPr>
            <a:r>
              <a:rPr lang="zh-TW" altLang="en-US" sz="1100" b="0" dirty="0">
                <a:solidFill>
                  <a:srgbClr val="5A6A7A"/>
                </a:solidFill>
                <a:latin typeface="微軟正黑體"/>
                <a:ea typeface="微軟正黑體"/>
              </a:rPr>
              <a:t>大台中診所協會 胡哲禎醫師 ｜ 2026</a:t>
            </a:r>
          </a:p>
        </p:txBody>
      </p:sp>
    </p:spTree>
    <p:extLst>
      <p:ext uri="{BB962C8B-B14F-4D97-AF65-F5344CB8AC3E}">
        <p14:creationId xmlns:p14="http://schemas.microsoft.com/office/powerpoint/2010/main" val="13597508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/>
              <a:ea typeface="微軟正黑體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156082"/>
                </a:solidFill>
                <a:latin typeface="微軟正黑體"/>
                <a:ea typeface="微軟正黑體"/>
              </a:rPr>
              <a:t>第二段｜健保申報檔資料分析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0E2841"/>
                </a:solidFill>
                <a:latin typeface="微軟正黑體"/>
                <a:ea typeface="微軟正黑體"/>
              </a:rPr>
              <a:t>共通入口：全國固定格式的申報檔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788920"/>
            <a:ext cx="5440680" cy="2880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/>
              <a:ea typeface="微軟正黑體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02920" y="2788920"/>
            <a:ext cx="5440680" cy="73152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/>
              <a:ea typeface="微軟正黑體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22960" y="3063240"/>
            <a:ext cx="48006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dirty="0" err="1">
                <a:solidFill>
                  <a:srgbClr val="156082"/>
                </a:solidFill>
                <a:latin typeface="微軟正黑體"/>
                <a:ea typeface="微軟正黑體"/>
              </a:rPr>
              <a:t>固定格式：XML</a:t>
            </a:r>
            <a:r>
              <a:rPr sz="1800" b="1" dirty="0">
                <a:solidFill>
                  <a:srgbClr val="156082"/>
                </a:solidFill>
                <a:latin typeface="微軟正黑體"/>
                <a:ea typeface="微軟正黑體"/>
              </a:rPr>
              <a:t> </a:t>
            </a:r>
            <a:r>
              <a:rPr sz="1800" b="1" dirty="0" err="1">
                <a:solidFill>
                  <a:srgbClr val="156082"/>
                </a:solidFill>
                <a:latin typeface="微軟正黑體"/>
                <a:ea typeface="微軟正黑體"/>
              </a:rPr>
              <a:t>檔</a:t>
            </a:r>
            <a:endParaRPr sz="1800" b="1" dirty="0">
              <a:solidFill>
                <a:srgbClr val="156082"/>
              </a:solidFill>
              <a:latin typeface="微軟正黑體"/>
              <a:ea typeface="微軟正黑體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22960" y="3657600"/>
            <a:ext cx="4800600" cy="1737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b="0" dirty="0" err="1">
                <a:solidFill>
                  <a:srgbClr val="1A2A3A"/>
                </a:solidFill>
                <a:latin typeface="微軟正黑體"/>
                <a:ea typeface="微軟正黑體"/>
              </a:rPr>
              <a:t>健保門診申報上傳，規定使用</a:t>
            </a:r>
            <a:r>
              <a:rPr b="0" dirty="0">
                <a:solidFill>
                  <a:srgbClr val="1A2A3A"/>
                </a:solidFill>
                <a:latin typeface="微軟正黑體"/>
                <a:ea typeface="微軟正黑體"/>
              </a:rPr>
              <a:t> </a:t>
            </a:r>
            <a:r>
              <a:rPr b="0" dirty="0" err="1">
                <a:solidFill>
                  <a:srgbClr val="1A2A3A"/>
                </a:solidFill>
                <a:latin typeface="微軟正黑體"/>
                <a:ea typeface="微軟正黑體"/>
              </a:rPr>
              <a:t>XML（可延伸標記式語言）檔，通常壓成</a:t>
            </a:r>
            <a:r>
              <a:rPr b="0" dirty="0">
                <a:solidFill>
                  <a:srgbClr val="1A2A3A"/>
                </a:solidFill>
                <a:latin typeface="微軟正黑體"/>
                <a:ea typeface="微軟正黑體"/>
              </a:rPr>
              <a:t> zip </a:t>
            </a:r>
            <a:r>
              <a:rPr b="0" dirty="0" err="1">
                <a:solidFill>
                  <a:srgbClr val="1A2A3A"/>
                </a:solidFill>
                <a:latin typeface="微軟正黑體"/>
                <a:ea typeface="微軟正黑體"/>
              </a:rPr>
              <a:t>上傳</a:t>
            </a:r>
            <a:r>
              <a:rPr b="0" dirty="0">
                <a:solidFill>
                  <a:srgbClr val="1A2A3A"/>
                </a:solidFill>
                <a:latin typeface="微軟正黑體"/>
                <a:ea typeface="微軟正黑體"/>
              </a:rPr>
              <a:t>。
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788920"/>
            <a:ext cx="5440680" cy="2880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/>
              <a:ea typeface="微軟正黑體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217920" y="2788920"/>
            <a:ext cx="5440680" cy="73152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/>
              <a:ea typeface="微軟正黑體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537960" y="3063240"/>
            <a:ext cx="48006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zh-TW" altLang="en-US" b="1" dirty="0">
                <a:solidFill>
                  <a:srgbClr val="156082"/>
                </a:solidFill>
                <a:latin typeface="微軟正黑體"/>
                <a:ea typeface="微軟正黑體"/>
              </a:rPr>
              <a:t>不同的</a:t>
            </a:r>
            <a:r>
              <a:rPr sz="1800" b="1" dirty="0" err="1">
                <a:solidFill>
                  <a:srgbClr val="156082"/>
                </a:solidFill>
                <a:latin typeface="微軟正黑體"/>
                <a:ea typeface="微軟正黑體"/>
              </a:rPr>
              <a:t>資訊廠商也能用</a:t>
            </a:r>
            <a:endParaRPr sz="1800" b="1" dirty="0">
              <a:solidFill>
                <a:srgbClr val="156082"/>
              </a:solidFill>
              <a:latin typeface="微軟正黑體"/>
              <a:ea typeface="微軟正黑體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537960" y="3657600"/>
            <a:ext cx="4800600" cy="173736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zh-TW" altLang="en-US" sz="2000" dirty="0">
                <a:solidFill>
                  <a:srgbClr val="1A2A3A"/>
                </a:solidFill>
                <a:latin typeface="微軟正黑體"/>
                <a:ea typeface="微軟正黑體"/>
              </a:rPr>
              <a:t>不同的</a:t>
            </a:r>
            <a:r>
              <a:rPr sz="2000" b="0" dirty="0" err="1">
                <a:solidFill>
                  <a:srgbClr val="1A2A3A"/>
                </a:solidFill>
                <a:latin typeface="微軟正黑體"/>
                <a:ea typeface="微軟正黑體"/>
              </a:rPr>
              <a:t>資訊廠商，申報檔格式仍相同</a:t>
            </a:r>
            <a:r>
              <a:rPr sz="2000" b="0" dirty="0">
                <a:solidFill>
                  <a:srgbClr val="1A2A3A"/>
                </a:solidFill>
                <a:latin typeface="微軟正黑體"/>
                <a:ea typeface="微軟正黑體"/>
              </a:rPr>
              <a:t>，
</a:t>
            </a:r>
            <a:r>
              <a:rPr sz="2000" b="0" dirty="0" err="1">
                <a:solidFill>
                  <a:srgbClr val="1A2A3A"/>
                </a:solidFill>
                <a:latin typeface="微軟正黑體"/>
                <a:ea typeface="微軟正黑體"/>
              </a:rPr>
              <a:t>今天學的分析流程</a:t>
            </a:r>
            <a:r>
              <a:rPr lang="zh-TW" altLang="en-US" sz="2000" dirty="0">
                <a:solidFill>
                  <a:srgbClr val="1A2A3A"/>
                </a:solidFill>
                <a:latin typeface="微軟正黑體"/>
                <a:ea typeface="微軟正黑體"/>
              </a:rPr>
              <a:t>大家都可以用</a:t>
            </a:r>
            <a:r>
              <a:rPr sz="2000" b="0" dirty="0">
                <a:solidFill>
                  <a:srgbClr val="1A2A3A"/>
                </a:solidFill>
                <a:latin typeface="微軟正黑體"/>
                <a:ea typeface="微軟正黑體"/>
              </a:rPr>
              <a:t>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/>
              <a:ea typeface="微軟正黑體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0" y="6492240"/>
            <a:ext cx="12191695" cy="18288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/>
              <a:ea typeface="微軟正黑體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02920" y="6547104"/>
            <a:ext cx="9144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5A6A7A"/>
                </a:solidFill>
                <a:latin typeface="微軟正黑體"/>
                <a:ea typeface="微軟正黑體"/>
              </a:rPr>
              <a:t>大台中診所協會 胡哲禎醫師 ｜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20095" y="6547104"/>
            <a:ext cx="914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5A6A7A"/>
                </a:solidFill>
                <a:latin typeface="微軟正黑體"/>
                <a:ea typeface="微軟正黑體"/>
              </a:rPr>
              <a:t>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/>
              <a:ea typeface="微軟正黑體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156082"/>
                </a:solidFill>
                <a:latin typeface="微軟正黑體"/>
                <a:ea typeface="微軟正黑體"/>
              </a:rPr>
              <a:t>第二段｜健保申報檔資料分析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0E2841"/>
                </a:solidFill>
                <a:latin typeface="微軟正黑體"/>
                <a:ea typeface="微軟正黑體"/>
              </a:rPr>
              <a:t>XML 要先變成表格，ChatGPT 才好調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88720"/>
            <a:ext cx="111556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5A6A7A"/>
                </a:solidFill>
                <a:latin typeface="微軟正黑體"/>
                <a:ea typeface="微軟正黑體"/>
              </a:rPr>
              <a:t>正式上傳給健保是 XML；課堂分析建議先轉成 CSV（逗號分隔表格）。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905000"/>
            <a:ext cx="11155680" cy="1066800"/>
          </a:xfrm>
          <a:prstGeom prst="roundRect">
            <a:avLst>
              <a:gd name="adj" fmla="val 5000"/>
            </a:avLst>
          </a:prstGeom>
          <a:solidFill>
            <a:srgbClr val="F3F6F8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/>
              <a:ea typeface="微軟正黑體"/>
            </a:endParaRPr>
          </a:p>
        </p:txBody>
      </p:sp>
      <p:sp>
        <p:nvSpPr>
          <p:cNvPr id="7" name="Oval 6"/>
          <p:cNvSpPr/>
          <p:nvPr/>
        </p:nvSpPr>
        <p:spPr>
          <a:xfrm>
            <a:off x="704088" y="2209800"/>
            <a:ext cx="457200" cy="457200"/>
          </a:xfrm>
          <a:prstGeom prst="ellipse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/>
              <a:ea typeface="微軟正黑體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04088" y="2260600"/>
            <a:ext cx="45720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軟正黑體"/>
                <a:ea typeface="微軟正黑體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032000"/>
            <a:ext cx="9601200" cy="381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0E2841"/>
                </a:solidFill>
                <a:latin typeface="微軟正黑體"/>
                <a:ea typeface="微軟正黑體"/>
              </a:rPr>
              <a:t>匯出申報檔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438400"/>
            <a:ext cx="9601200" cy="381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700" b="0">
                <a:solidFill>
                  <a:srgbClr val="1A2A3A"/>
                </a:solidFill>
                <a:latin typeface="微軟正黑體"/>
                <a:ea typeface="微軟正黑體"/>
              </a:rPr>
              <a:t>從診所系統匯出健保門診申報（XML 或壓縮包）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251200"/>
            <a:ext cx="11155680" cy="1066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/>
              <a:ea typeface="微軟正黑體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704088" y="3556000"/>
            <a:ext cx="457200" cy="457200"/>
          </a:xfrm>
          <a:prstGeom prst="ellipse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/>
              <a:ea typeface="微軟正黑體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04088" y="3606800"/>
            <a:ext cx="45720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軟正黑體"/>
                <a:ea typeface="微軟正黑體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378200"/>
            <a:ext cx="9601200" cy="38100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sz="2000" b="1" dirty="0" err="1">
                <a:solidFill>
                  <a:srgbClr val="0E2841"/>
                </a:solidFill>
                <a:latin typeface="微軟正黑體"/>
                <a:ea typeface="微軟正黑體"/>
              </a:rPr>
              <a:t>轉成</a:t>
            </a:r>
            <a:r>
              <a:rPr lang="zh-TW" altLang="en-US" sz="2000" b="1" dirty="0">
                <a:solidFill>
                  <a:srgbClr val="0E2841"/>
                </a:solidFill>
                <a:latin typeface="微軟正黑體"/>
                <a:ea typeface="微軟正黑體"/>
              </a:rPr>
              <a:t>去識別化</a:t>
            </a:r>
            <a:r>
              <a:rPr sz="2000" b="1" dirty="0" err="1">
                <a:solidFill>
                  <a:srgbClr val="0E2841"/>
                </a:solidFill>
                <a:latin typeface="微軟正黑體"/>
                <a:ea typeface="微軟正黑體"/>
              </a:rPr>
              <a:t>表格</a:t>
            </a:r>
            <a:endParaRPr sz="2000" b="1" dirty="0">
              <a:solidFill>
                <a:srgbClr val="0E2841"/>
              </a:solidFill>
              <a:latin typeface="微軟正黑體"/>
              <a:ea typeface="微軟正黑體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371600" y="3784600"/>
            <a:ext cx="9601200" cy="381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700" b="0">
                <a:solidFill>
                  <a:srgbClr val="1A2A3A"/>
                </a:solidFill>
                <a:latin typeface="微軟正黑體"/>
                <a:ea typeface="微軟正黑體"/>
              </a:rPr>
              <a:t>下載專為本課程設計的小程式 → 轉成 CSV（可去識別化）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4597400"/>
            <a:ext cx="11155680" cy="1066800"/>
          </a:xfrm>
          <a:prstGeom prst="roundRect">
            <a:avLst>
              <a:gd name="adj" fmla="val 5000"/>
            </a:avLst>
          </a:prstGeom>
          <a:solidFill>
            <a:srgbClr val="F3F6F8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/>
              <a:ea typeface="微軟正黑體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704088" y="4902200"/>
            <a:ext cx="457200" cy="457200"/>
          </a:xfrm>
          <a:prstGeom prst="ellipse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/>
              <a:ea typeface="微軟正黑體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04088" y="4953000"/>
            <a:ext cx="45720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軟正黑體"/>
                <a:ea typeface="微軟正黑體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724400"/>
            <a:ext cx="9601200" cy="381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zh-TW" altLang="en-US" sz="2000" b="1" dirty="0">
                <a:solidFill>
                  <a:srgbClr val="0E2841"/>
                </a:solidFill>
                <a:latin typeface="微軟正黑體"/>
                <a:ea typeface="微軟正黑體"/>
              </a:rPr>
              <a:t>上傳</a:t>
            </a:r>
            <a:r>
              <a:rPr sz="2000" b="1" dirty="0">
                <a:solidFill>
                  <a:srgbClr val="0E2841"/>
                </a:solidFill>
                <a:latin typeface="微軟正黑體"/>
                <a:ea typeface="微軟正黑體"/>
              </a:rPr>
              <a:t>ChatGPT </a:t>
            </a:r>
            <a:r>
              <a:rPr sz="2000" b="1" dirty="0" err="1">
                <a:solidFill>
                  <a:srgbClr val="0E2841"/>
                </a:solidFill>
                <a:latin typeface="微軟正黑體"/>
                <a:ea typeface="微軟正黑體"/>
              </a:rPr>
              <a:t>做分析</a:t>
            </a:r>
            <a:endParaRPr sz="2000" b="1" dirty="0">
              <a:solidFill>
                <a:srgbClr val="0E2841"/>
              </a:solidFill>
              <a:latin typeface="微軟正黑體"/>
              <a:ea typeface="微軟正黑體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371600" y="5130800"/>
            <a:ext cx="9601200" cy="381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700" b="0">
                <a:solidFill>
                  <a:srgbClr val="1A2A3A"/>
                </a:solidFill>
                <a:latin typeface="微軟正黑體"/>
                <a:ea typeface="微軟正黑體"/>
              </a:rPr>
              <a:t>把表格上傳，請它整理看診量、病種分布與時段趨勢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/>
              <a:ea typeface="微軟正黑體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0" y="6492240"/>
            <a:ext cx="12191695" cy="18288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/>
              <a:ea typeface="微軟正黑體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02920" y="6547104"/>
            <a:ext cx="9144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5A6A7A"/>
                </a:solidFill>
                <a:latin typeface="微軟正黑體"/>
                <a:ea typeface="微軟正黑體"/>
              </a:rPr>
              <a:t>大台中診所協會 胡哲禎醫師 ｜ 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20095" y="6547104"/>
            <a:ext cx="914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5A6A7A"/>
                </a:solidFill>
                <a:latin typeface="微軟正黑體"/>
                <a:ea typeface="微軟正黑體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2905185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/>
              <a:ea typeface="微軟正黑體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156082"/>
                </a:solidFill>
                <a:latin typeface="微軟正黑體"/>
                <a:ea typeface="微軟正黑體"/>
              </a:rPr>
              <a:t>第二段｜健保申報檔資料分析｜合成／教學用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0E2841"/>
                </a:solidFill>
                <a:latin typeface="微軟正黑體"/>
                <a:ea typeface="微軟正黑體"/>
              </a:rPr>
              <a:t>我們實際做做看：怎麼分析這些實際的問題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188720"/>
            <a:ext cx="11155680" cy="457200"/>
          </a:xfrm>
          <a:prstGeom prst="roundRect">
            <a:avLst>
              <a:gd name="adj" fmla="val 6000"/>
            </a:avLst>
          </a:prstGeom>
          <a:solidFill>
            <a:srgbClr val="E8F2F7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/>
              <a:ea typeface="微軟正黑體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1520" y="1261872"/>
            <a:ext cx="109728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400" b="1" dirty="0">
                <a:solidFill>
                  <a:srgbClr val="156082"/>
                </a:solidFill>
                <a:latin typeface="微軟正黑體"/>
                <a:ea typeface="微軟正黑體"/>
              </a:rPr>
              <a:t>練習檔：113年03月（約1,350人次）＋114年03月（約1,500人次）去識別看診.csv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74519"/>
            <a:ext cx="3566160" cy="1691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/>
              <a:ea typeface="微軟正黑體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02920" y="1874519"/>
            <a:ext cx="91440" cy="169164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/>
              <a:ea typeface="微軟正黑體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77240" y="2103119"/>
            <a:ext cx="30632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156082"/>
                </a:solidFill>
                <a:latin typeface="微軟正黑體"/>
                <a:ea typeface="微軟正黑體"/>
              </a:rPr>
              <a:t>星期與時段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60319"/>
            <a:ext cx="306324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dirty="0" err="1">
                <a:solidFill>
                  <a:srgbClr val="1A2A3A"/>
                </a:solidFill>
                <a:latin typeface="微軟正黑體"/>
                <a:ea typeface="微軟正黑體"/>
              </a:rPr>
              <a:t>禮拜幾人比較多</a:t>
            </a:r>
            <a:r>
              <a:rPr sz="1400" b="0" dirty="0">
                <a:solidFill>
                  <a:srgbClr val="1A2A3A"/>
                </a:solidFill>
                <a:latin typeface="微軟正黑體"/>
                <a:ea typeface="微軟正黑體"/>
              </a:rPr>
              <a:t>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874519"/>
            <a:ext cx="3566160" cy="1691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/>
              <a:ea typeface="微軟正黑體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343400" y="1874519"/>
            <a:ext cx="91440" cy="169164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/>
              <a:ea typeface="微軟正黑體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617720" y="2103119"/>
            <a:ext cx="30632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156082"/>
                </a:solidFill>
                <a:latin typeface="微軟正黑體"/>
                <a:ea typeface="微軟正黑體"/>
              </a:rPr>
              <a:t>人數變化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560319"/>
            <a:ext cx="306324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A2A3A"/>
                </a:solidFill>
                <a:latin typeface="微軟正黑體"/>
                <a:ea typeface="微軟正黑體"/>
              </a:rPr>
              <a:t>跟去年同期比，
人有沒有變多？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80" y="1874519"/>
            <a:ext cx="3566160" cy="1691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/>
              <a:ea typeface="微軟正黑體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8183880" y="1874519"/>
            <a:ext cx="91440" cy="169164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/>
              <a:ea typeface="微軟正黑體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458200" y="2103119"/>
            <a:ext cx="30632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156082"/>
                </a:solidFill>
                <a:latin typeface="微軟正黑體"/>
                <a:ea typeface="微軟正黑體"/>
              </a:rPr>
              <a:t>申報點數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560319"/>
            <a:ext cx="306324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A2A3A"/>
                </a:solidFill>
                <a:latin typeface="微軟正黑體"/>
                <a:ea typeface="微軟正黑體"/>
              </a:rPr>
              <a:t>申請點數有沒有上升？
哪裡變多？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822191"/>
            <a:ext cx="3566160" cy="1691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/>
              <a:ea typeface="微軟正黑體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502920" y="3822191"/>
            <a:ext cx="91440" cy="169164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/>
              <a:ea typeface="微軟正黑體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77240" y="4050791"/>
            <a:ext cx="30632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156082"/>
                </a:solidFill>
                <a:latin typeface="微軟正黑體"/>
                <a:ea typeface="微軟正黑體"/>
              </a:rPr>
              <a:t>經營概況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507991"/>
            <a:ext cx="306324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dirty="0" err="1">
                <a:solidFill>
                  <a:srgbClr val="1A2A3A"/>
                </a:solidFill>
                <a:latin typeface="微軟正黑體"/>
                <a:ea typeface="微軟正黑體"/>
              </a:rPr>
              <a:t>這個月整體長怎樣</a:t>
            </a:r>
            <a:r>
              <a:rPr sz="1400" b="0" dirty="0">
                <a:solidFill>
                  <a:srgbClr val="1A2A3A"/>
                </a:solidFill>
                <a:latin typeface="微軟正黑體"/>
                <a:ea typeface="微軟正黑體"/>
              </a:rPr>
              <a:t>？
</a:t>
            </a:r>
            <a:r>
              <a:rPr sz="1400" b="0" dirty="0" err="1">
                <a:solidFill>
                  <a:srgbClr val="1A2A3A"/>
                </a:solidFill>
                <a:latin typeface="微軟正黑體"/>
                <a:ea typeface="微軟正黑體"/>
              </a:rPr>
              <a:t>醫師負荷如何</a:t>
            </a:r>
            <a:r>
              <a:rPr sz="1400" b="0" dirty="0">
                <a:solidFill>
                  <a:srgbClr val="1A2A3A"/>
                </a:solidFill>
                <a:latin typeface="微軟正黑體"/>
                <a:ea typeface="微軟正黑體"/>
              </a:rPr>
              <a:t>？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43400" y="3822191"/>
            <a:ext cx="3566160" cy="1691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/>
              <a:ea typeface="微軟正黑體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4343400" y="3822191"/>
            <a:ext cx="91440" cy="169164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/>
              <a:ea typeface="微軟正黑體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617720" y="4050791"/>
            <a:ext cx="30632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156082"/>
                </a:solidFill>
                <a:latin typeface="微軟正黑體"/>
                <a:ea typeface="微軟正黑體"/>
              </a:rPr>
              <a:t>病人回流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17720" y="4507991"/>
            <a:ext cx="306324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A2A3A"/>
                </a:solidFill>
                <a:latin typeface="微軟正黑體"/>
                <a:ea typeface="微軟正黑體"/>
              </a:rPr>
              <a:t>有沒有常來回的病人？
可能流失的跡象？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83880" y="3822191"/>
            <a:ext cx="3566160" cy="1691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/>
              <a:ea typeface="微軟正黑體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8183880" y="3822191"/>
            <a:ext cx="91440" cy="169164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/>
              <a:ea typeface="微軟正黑體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458200" y="4050791"/>
            <a:ext cx="30632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156082"/>
                </a:solidFill>
                <a:latin typeface="微軟正黑體"/>
                <a:ea typeface="微軟正黑體"/>
              </a:rPr>
              <a:t>下月要盯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58200" y="4507991"/>
            <a:ext cx="306324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A2A3A"/>
                </a:solidFill>
                <a:latin typeface="微軟正黑體"/>
                <a:ea typeface="微軟正黑體"/>
              </a:rPr>
              <a:t>接下來該看哪幾個數字？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/>
              <a:ea typeface="微軟正黑體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0" y="6492240"/>
            <a:ext cx="12191695" cy="18288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/>
              <a:ea typeface="微軟正黑體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02920" y="6547104"/>
            <a:ext cx="9144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5A6A7A"/>
                </a:solidFill>
                <a:latin typeface="微軟正黑體"/>
                <a:ea typeface="微軟正黑體"/>
              </a:rPr>
              <a:t>大台中診所協會 胡哲禎醫師 ｜ 2026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820095" y="6547104"/>
            <a:ext cx="914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5A6A7A"/>
                </a:solidFill>
                <a:latin typeface="微軟正黑體"/>
                <a:ea typeface="微軟正黑體"/>
              </a:rPr>
              <a:t>11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/>
              <a:ea typeface="微軟正黑體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156082"/>
                </a:solidFill>
                <a:latin typeface="微軟正黑體"/>
                <a:ea typeface="微軟正黑體"/>
              </a:rPr>
              <a:t>第二段｜用 ChatGPT 做分析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0E2841"/>
                </a:solidFill>
                <a:latin typeface="微軟正黑體"/>
                <a:ea typeface="微軟正黑體"/>
              </a:rPr>
              <a:t>分析怎麼走：四步就好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2287" y="1325880"/>
            <a:ext cx="2606040" cy="3154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/>
              <a:ea typeface="微軟正黑體"/>
            </a:endParaRPr>
          </a:p>
        </p:txBody>
      </p:sp>
      <p:sp>
        <p:nvSpPr>
          <p:cNvPr id="6" name="Oval 5"/>
          <p:cNvSpPr/>
          <p:nvPr/>
        </p:nvSpPr>
        <p:spPr>
          <a:xfrm>
            <a:off x="1546707" y="1600200"/>
            <a:ext cx="457200" cy="457200"/>
          </a:xfrm>
          <a:prstGeom prst="ellipse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/>
              <a:ea typeface="微軟正黑體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546707" y="1645920"/>
            <a:ext cx="45720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軟正黑體"/>
                <a:ea typeface="微軟正黑體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447" y="2331720"/>
            <a:ext cx="23317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>
                <a:solidFill>
                  <a:srgbClr val="0E2841"/>
                </a:solidFill>
                <a:latin typeface="微軟正黑體"/>
                <a:ea typeface="微軟正黑體"/>
              </a:rPr>
              <a:t>匯出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5167" y="2971800"/>
            <a:ext cx="224028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500" b="0">
                <a:solidFill>
                  <a:srgbClr val="1A2A3A"/>
                </a:solidFill>
                <a:latin typeface="微軟正黑體"/>
                <a:ea typeface="微軟正黑體"/>
              </a:rPr>
              <a:t>匯出健保門診
申報 XML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78327" y="2697480"/>
            <a:ext cx="274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800" b="1">
                <a:solidFill>
                  <a:srgbClr val="156082"/>
                </a:solidFill>
                <a:latin typeface="微軟正黑體"/>
                <a:ea typeface="微軟正黑體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1325880"/>
            <a:ext cx="2606040" cy="3154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/>
              <a:ea typeface="微軟正黑體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4427067" y="1600200"/>
            <a:ext cx="457200" cy="457200"/>
          </a:xfrm>
          <a:prstGeom prst="ellipse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/>
              <a:ea typeface="微軟正黑體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427067" y="1645920"/>
            <a:ext cx="45720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軟正黑體"/>
                <a:ea typeface="微軟正黑體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89807" y="2331720"/>
            <a:ext cx="23317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>
                <a:solidFill>
                  <a:srgbClr val="0E2841"/>
                </a:solidFill>
                <a:latin typeface="微軟正黑體"/>
                <a:ea typeface="微軟正黑體"/>
              </a:rPr>
              <a:t>轉表格＋去識別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35527" y="2971800"/>
            <a:ext cx="224028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500" b="0">
                <a:solidFill>
                  <a:srgbClr val="1A2A3A"/>
                </a:solidFill>
                <a:latin typeface="微軟正黑體"/>
                <a:ea typeface="微軟正黑體"/>
              </a:rPr>
              <a:t>XML→CSV
再去掉個人資料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58687" y="2697480"/>
            <a:ext cx="274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800" b="1">
                <a:solidFill>
                  <a:srgbClr val="156082"/>
                </a:solidFill>
                <a:latin typeface="微軟正黑體"/>
                <a:ea typeface="微軟正黑體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3007" y="1325880"/>
            <a:ext cx="2606040" cy="3154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/>
              <a:ea typeface="微軟正黑體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7307427" y="1600200"/>
            <a:ext cx="457200" cy="457200"/>
          </a:xfrm>
          <a:prstGeom prst="ellipse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/>
              <a:ea typeface="微軟正黑體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307427" y="1645920"/>
            <a:ext cx="45720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軟正黑體"/>
                <a:ea typeface="微軟正黑體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0167" y="2331720"/>
            <a:ext cx="23317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>
                <a:solidFill>
                  <a:srgbClr val="0E2841"/>
                </a:solidFill>
                <a:latin typeface="微軟正黑體"/>
                <a:ea typeface="微軟正黑體"/>
              </a:rPr>
              <a:t>丟給 ChatGPT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5887" y="2971800"/>
            <a:ext cx="224028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500" b="0">
                <a:solidFill>
                  <a:srgbClr val="1A2A3A"/>
                </a:solidFill>
                <a:latin typeface="微軟正黑體"/>
                <a:ea typeface="微軟正黑體"/>
              </a:rPr>
              <a:t>上傳 113／114
用口語提示詞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39047" y="2697480"/>
            <a:ext cx="274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800" b="1">
                <a:solidFill>
                  <a:srgbClr val="156082"/>
                </a:solidFill>
                <a:latin typeface="微軟正黑體"/>
                <a:ea typeface="微軟正黑體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13367" y="1325880"/>
            <a:ext cx="2606040" cy="3154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/>
              <a:ea typeface="微軟正黑體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10187787" y="1600200"/>
            <a:ext cx="457200" cy="457200"/>
          </a:xfrm>
          <a:prstGeom prst="ellipse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/>
              <a:ea typeface="微軟正黑體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0187787" y="1645920"/>
            <a:ext cx="45720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軟正黑體"/>
                <a:ea typeface="微軟正黑體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50527" y="2331720"/>
            <a:ext cx="23317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>
                <a:solidFill>
                  <a:srgbClr val="0E2841"/>
                </a:solidFill>
                <a:latin typeface="微軟正黑體"/>
                <a:ea typeface="微軟正黑體"/>
              </a:rPr>
              <a:t>看報告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96247" y="2971800"/>
            <a:ext cx="224028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500" b="0">
                <a:solidFill>
                  <a:srgbClr val="1A2A3A"/>
                </a:solidFill>
                <a:latin typeface="微軟正黑體"/>
                <a:ea typeface="微軟正黑體"/>
              </a:rPr>
              <a:t>經營概況
異常與診斷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4754880"/>
            <a:ext cx="11155680" cy="914400"/>
          </a:xfrm>
          <a:prstGeom prst="roundRect">
            <a:avLst>
              <a:gd name="adj" fmla="val 5000"/>
            </a:avLst>
          </a:prstGeom>
          <a:solidFill>
            <a:srgbClr val="FDF0E8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/>
              <a:ea typeface="微軟正黑體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502920" y="4754880"/>
            <a:ext cx="91440" cy="91440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/>
              <a:ea typeface="微軟正黑體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22960" y="4956048"/>
            <a:ext cx="1065276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800" b="0">
                <a:solidFill>
                  <a:srgbClr val="0E2841"/>
                </a:solidFill>
                <a:latin typeface="微軟正黑體"/>
                <a:ea typeface="微軟正黑體"/>
              </a:rPr>
              <a:t>匯出 → 轉表格並去識別 → 丟給 ChatGPT → 看報告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/>
              <a:ea typeface="微軟正黑體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0" y="6492240"/>
            <a:ext cx="12191695" cy="18288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/>
              <a:ea typeface="微軟正黑體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02920" y="6547104"/>
            <a:ext cx="9144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5A6A7A"/>
                </a:solidFill>
                <a:latin typeface="微軟正黑體"/>
                <a:ea typeface="微軟正黑體"/>
              </a:rPr>
              <a:t>大台中診所協會 胡哲禎醫師 ｜ 2026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820095" y="6547104"/>
            <a:ext cx="914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5A6A7A"/>
                </a:solidFill>
                <a:latin typeface="微軟正黑體"/>
                <a:ea typeface="微軟正黑體"/>
              </a:rPr>
              <a:t>13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/>
              <a:ea typeface="微軟正黑體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156082"/>
                </a:solidFill>
                <a:latin typeface="微軟正黑體"/>
                <a:ea typeface="微軟正黑體"/>
              </a:rPr>
              <a:t>第二段｜三個任務（由淺到深）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0E2841"/>
                </a:solidFill>
                <a:latin typeface="微軟正黑體"/>
                <a:ea typeface="微軟正黑體"/>
              </a:rPr>
              <a:t>A 經營概況 → B 異常情形 → C 經營診斷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280160"/>
            <a:ext cx="3566160" cy="4160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/>
              <a:ea typeface="微軟正黑體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1280160"/>
            <a:ext cx="3566160" cy="73152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/>
              <a:ea typeface="微軟正黑體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58952" y="1554480"/>
            <a:ext cx="566928" cy="566928"/>
          </a:xfrm>
          <a:prstGeom prst="roundRect">
            <a:avLst>
              <a:gd name="adj" fmla="val 12000"/>
            </a:avLst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/>
              <a:ea typeface="微軟正黑體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58952" y="1627632"/>
            <a:ext cx="566928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  <a:ea typeface="微軟正黑體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627632"/>
            <a:ext cx="228600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000" b="1">
                <a:solidFill>
                  <a:srgbClr val="0E2841"/>
                </a:solidFill>
                <a:latin typeface="微軟正黑體"/>
                <a:ea typeface="微軟正黑體"/>
              </a:rPr>
              <a:t>經營概況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468880"/>
            <a:ext cx="301752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1A2A3A"/>
                </a:solidFill>
                <a:latin typeface="微軟正黑體"/>
                <a:ea typeface="微軟正黑體"/>
              </a:rPr>
              <a:t>這個月幾人看？
禮拜幾、哪一時段較忙？
兩位醫師負荷如何？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4160520"/>
            <a:ext cx="3017520" cy="13716"/>
          </a:xfrm>
          <a:prstGeom prst="rect">
            <a:avLst/>
          </a:prstGeom>
          <a:solidFill>
            <a:srgbClr val="D8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/>
              <a:ea typeface="微軟正黑體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77240" y="4389120"/>
            <a:ext cx="301752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156082"/>
                </a:solidFill>
                <a:latin typeface="微軟正黑體"/>
                <a:ea typeface="微軟正黑體"/>
              </a:rPr>
              <a:t>先看診所整體長怎樣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1280160"/>
            <a:ext cx="3566160" cy="4160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/>
              <a:ea typeface="微軟正黑體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343400" y="1280160"/>
            <a:ext cx="3566160" cy="73152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/>
              <a:ea typeface="微軟正黑體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4599432" y="1554480"/>
            <a:ext cx="566928" cy="566928"/>
          </a:xfrm>
          <a:prstGeom prst="roundRect">
            <a:avLst>
              <a:gd name="adj" fmla="val 12000"/>
            </a:avLst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/>
              <a:ea typeface="微軟正黑體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599432" y="1627632"/>
            <a:ext cx="566928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  <a:ea typeface="微軟正黑體"/>
              </a:rPr>
              <a:t>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9240" y="1627632"/>
            <a:ext cx="228600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000" b="1">
                <a:solidFill>
                  <a:srgbClr val="0E2841"/>
                </a:solidFill>
                <a:latin typeface="微軟正黑體"/>
                <a:ea typeface="微軟正黑體"/>
              </a:rPr>
              <a:t>異常情形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2468880"/>
            <a:ext cx="301752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1A2A3A"/>
                </a:solidFill>
                <a:latin typeface="微軟正黑體"/>
                <a:ea typeface="微軟正黑體"/>
              </a:rPr>
              <a:t>跟去年比，人數／點數
有沒有怪的變化？
哪個時段特別異常？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17720" y="4160520"/>
            <a:ext cx="3017520" cy="13716"/>
          </a:xfrm>
          <a:prstGeom prst="rect">
            <a:avLst/>
          </a:prstGeom>
          <a:solidFill>
            <a:srgbClr val="D8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/>
              <a:ea typeface="微軟正黑體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617720" y="4389120"/>
            <a:ext cx="301752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156082"/>
                </a:solidFill>
                <a:latin typeface="微軟正黑體"/>
                <a:ea typeface="微軟正黑體"/>
              </a:rPr>
              <a:t>找出該盯的訊號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83880" y="1280160"/>
            <a:ext cx="3566160" cy="4160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/>
              <a:ea typeface="微軟正黑體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8183880" y="1280160"/>
            <a:ext cx="3566160" cy="73152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/>
              <a:ea typeface="微軟正黑體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8439912" y="1554480"/>
            <a:ext cx="566928" cy="566928"/>
          </a:xfrm>
          <a:prstGeom prst="roundRect">
            <a:avLst>
              <a:gd name="adj" fmla="val 12000"/>
            </a:avLst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/>
              <a:ea typeface="微軟正黑體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439912" y="1627632"/>
            <a:ext cx="566928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  <a:ea typeface="微軟正黑體"/>
              </a:rPr>
              <a:t>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9720" y="1627632"/>
            <a:ext cx="228600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000" b="1">
                <a:solidFill>
                  <a:srgbClr val="0E2841"/>
                </a:solidFill>
                <a:latin typeface="微軟正黑體"/>
                <a:ea typeface="微軟正黑體"/>
              </a:rPr>
              <a:t>經營診斷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2468880"/>
            <a:ext cx="301752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1A2A3A"/>
                </a:solidFill>
                <a:latin typeface="微軟正黑體"/>
                <a:ea typeface="微軟正黑體"/>
              </a:rPr>
              <a:t>整理成一份報告：
發生什麼、可能原因、
接下來要看哪幾個數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458200" y="4160520"/>
            <a:ext cx="3017520" cy="13716"/>
          </a:xfrm>
          <a:prstGeom prst="rect">
            <a:avLst/>
          </a:prstGeom>
          <a:solidFill>
            <a:srgbClr val="D8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/>
              <a:ea typeface="微軟正黑體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458200" y="4389120"/>
            <a:ext cx="301752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156082"/>
                </a:solidFill>
                <a:latin typeface="微軟正黑體"/>
                <a:ea typeface="微軟正黑體"/>
              </a:rPr>
              <a:t>带走可討論的結論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/>
              <a:ea typeface="微軟正黑體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0" y="6492240"/>
            <a:ext cx="12191695" cy="18288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/>
              <a:ea typeface="微軟正黑體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02920" y="6547104"/>
            <a:ext cx="9144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5A6A7A"/>
                </a:solidFill>
                <a:latin typeface="微軟正黑體"/>
                <a:ea typeface="微軟正黑體"/>
              </a:rPr>
              <a:t>大台中診所協會 胡哲禎醫師 ｜ 2026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820095" y="6547104"/>
            <a:ext cx="914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5A6A7A"/>
                </a:solidFill>
                <a:latin typeface="微軟正黑體"/>
                <a:ea typeface="微軟正黑體"/>
              </a:rPr>
              <a:t>14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/>
              <a:ea typeface="微軟正黑體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E97132"/>
                </a:solidFill>
                <a:latin typeface="微軟正黑體"/>
                <a:ea typeface="微軟正黑體"/>
              </a:rPr>
              <a:t>換你們操作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86868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0E2841"/>
                </a:solidFill>
                <a:latin typeface="微軟正黑體"/>
                <a:ea typeface="微軟正黑體"/>
              </a:rPr>
              <a:t>用去識別檔在 ChatGPT 跑完 A→B→C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80467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>
                <a:solidFill>
                  <a:srgbClr val="1A2A3A"/>
                </a:solidFill>
                <a:latin typeface="微軟正黑體"/>
                <a:ea typeface="微軟正黑體"/>
              </a:rPr>
              <a:t>•  上傳「申報假資料_114年03月_去識別看診.csv」與「113年…」兩份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40280"/>
            <a:ext cx="80467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dirty="0">
                <a:solidFill>
                  <a:srgbClr val="1A2A3A"/>
                </a:solidFill>
                <a:latin typeface="微軟正黑體"/>
                <a:ea typeface="微軟正黑體"/>
              </a:rPr>
              <a:t>•  </a:t>
            </a:r>
            <a:r>
              <a:rPr sz="1800" b="0" dirty="0" err="1">
                <a:solidFill>
                  <a:srgbClr val="1A2A3A"/>
                </a:solidFill>
                <a:latin typeface="微軟正黑體"/>
                <a:ea typeface="微軟正黑體"/>
              </a:rPr>
              <a:t>先看經營概況</a:t>
            </a:r>
            <a:endParaRPr sz="1800" b="0" dirty="0">
              <a:solidFill>
                <a:srgbClr val="1A2A3A"/>
              </a:solidFill>
              <a:latin typeface="微軟正黑體"/>
              <a:ea typeface="微軟正黑體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" y="2834640"/>
            <a:ext cx="80467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dirty="0">
                <a:solidFill>
                  <a:srgbClr val="1A2A3A"/>
                </a:solidFill>
                <a:latin typeface="微軟正黑體"/>
                <a:ea typeface="微軟正黑體"/>
              </a:rPr>
              <a:t>•  </a:t>
            </a:r>
            <a:r>
              <a:rPr sz="1800" b="0" dirty="0" err="1">
                <a:solidFill>
                  <a:srgbClr val="1A2A3A"/>
                </a:solidFill>
                <a:latin typeface="微軟正黑體"/>
                <a:ea typeface="微軟正黑體"/>
              </a:rPr>
              <a:t>再比較兩年人數與點數</a:t>
            </a:r>
            <a:endParaRPr sz="1800" b="0" dirty="0">
              <a:solidFill>
                <a:srgbClr val="1A2A3A"/>
              </a:solidFill>
              <a:latin typeface="微軟正黑體"/>
              <a:ea typeface="微軟正黑體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0080" y="3429000"/>
            <a:ext cx="80467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dirty="0">
                <a:solidFill>
                  <a:srgbClr val="1A2A3A"/>
                </a:solidFill>
                <a:latin typeface="微軟正黑體"/>
                <a:ea typeface="微軟正黑體"/>
              </a:rPr>
              <a:t>•  </a:t>
            </a:r>
            <a:r>
              <a:rPr sz="1800" b="0" dirty="0" err="1">
                <a:solidFill>
                  <a:srgbClr val="1A2A3A"/>
                </a:solidFill>
                <a:latin typeface="微軟正黑體"/>
                <a:ea typeface="微軟正黑體"/>
              </a:rPr>
              <a:t>最</a:t>
            </a:r>
            <a:r>
              <a:rPr lang="zh-TW" altLang="en-US" sz="1800" b="0" dirty="0">
                <a:solidFill>
                  <a:srgbClr val="1A2A3A"/>
                </a:solidFill>
                <a:latin typeface="微軟正黑體"/>
                <a:ea typeface="微軟正黑體"/>
              </a:rPr>
              <a:t>後</a:t>
            </a:r>
            <a:r>
              <a:rPr sz="1800" b="0" dirty="0" err="1">
                <a:solidFill>
                  <a:srgbClr val="1A2A3A"/>
                </a:solidFill>
                <a:latin typeface="微軟正黑體"/>
                <a:ea typeface="微軟正黑體"/>
              </a:rPr>
              <a:t>產出</a:t>
            </a:r>
            <a:r>
              <a:rPr lang="en-US" dirty="0" err="1">
                <a:solidFill>
                  <a:srgbClr val="1A2A3A"/>
                </a:solidFill>
                <a:latin typeface="微軟正黑體"/>
                <a:ea typeface="微軟正黑體"/>
              </a:rPr>
              <a:t>總</a:t>
            </a:r>
            <a:r>
              <a:rPr sz="1800" b="0" dirty="0" err="1">
                <a:solidFill>
                  <a:srgbClr val="1A2A3A"/>
                </a:solidFill>
                <a:latin typeface="微軟正黑體"/>
                <a:ea typeface="微軟正黑體"/>
              </a:rPr>
              <a:t>報告</a:t>
            </a:r>
            <a:endParaRPr sz="1800" b="0" dirty="0">
              <a:solidFill>
                <a:srgbClr val="1A2A3A"/>
              </a:solidFill>
              <a:latin typeface="微軟正黑體"/>
              <a:ea typeface="微軟正黑體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9189720" y="1737360"/>
            <a:ext cx="2606040" cy="2331720"/>
          </a:xfrm>
          <a:prstGeom prst="roundRect">
            <a:avLst>
              <a:gd name="adj" fmla="val 8000"/>
            </a:avLst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/>
              <a:ea typeface="微軟正黑體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326880" y="2240280"/>
            <a:ext cx="2331720" cy="7772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3200" b="1">
                <a:solidFill>
                  <a:srgbClr val="FFFFFF"/>
                </a:solidFill>
                <a:latin typeface="微軟正黑體"/>
                <a:ea typeface="微軟正黑體"/>
              </a:rPr>
              <a:t>20 分鐘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0" y="3063240"/>
            <a:ext cx="23317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0">
                <a:solidFill>
                  <a:srgbClr val="FFFFFF"/>
                </a:solidFill>
                <a:latin typeface="微軟正黑體"/>
                <a:ea typeface="微軟正黑體"/>
              </a:rPr>
              <a:t>操作時間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4297680"/>
            <a:ext cx="11155680" cy="914400"/>
          </a:xfrm>
          <a:prstGeom prst="roundRect">
            <a:avLst>
              <a:gd name="adj" fmla="val 5000"/>
            </a:avLst>
          </a:prstGeom>
          <a:solidFill>
            <a:srgbClr val="FDF0E8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/>
              <a:ea typeface="微軟正黑體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02920" y="4297680"/>
            <a:ext cx="91440" cy="91440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/>
              <a:ea typeface="微軟正黑體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22960" y="4498848"/>
            <a:ext cx="1065276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0">
                <a:solidFill>
                  <a:srgbClr val="0E2841"/>
                </a:solidFill>
                <a:latin typeface="微軟正黑體"/>
                <a:ea typeface="微軟正黑體"/>
              </a:rPr>
              <a:t>提醒：不要上傳還有姓名、身分證字號的原始檔。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/>
              <a:ea typeface="微軟正黑體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0" y="6492240"/>
            <a:ext cx="12191695" cy="18288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/>
              <a:ea typeface="微軟正黑體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02920" y="6547104"/>
            <a:ext cx="9144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5A6A7A"/>
                </a:solidFill>
                <a:latin typeface="微軟正黑體"/>
                <a:ea typeface="微軟正黑體"/>
              </a:rPr>
              <a:t>大台中診所協會 胡哲禎醫師 ｜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20095" y="6547104"/>
            <a:ext cx="914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5A6A7A"/>
                </a:solidFill>
                <a:latin typeface="微軟正黑體"/>
                <a:ea typeface="微軟正黑體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/>
              <a:ea typeface="微軟正黑體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156082"/>
                </a:solidFill>
                <a:latin typeface="微軟正黑體"/>
                <a:ea typeface="微軟正黑體"/>
              </a:rPr>
              <a:t>進階預告｜依上回學員回饋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sz="2800" b="1" dirty="0" err="1">
                <a:solidFill>
                  <a:srgbClr val="0E2841"/>
                </a:solidFill>
                <a:latin typeface="微軟正黑體"/>
                <a:ea typeface="微軟正黑體"/>
              </a:rPr>
              <a:t>下一步：API／自動化串接</a:t>
            </a:r>
            <a:r>
              <a:rPr lang="en-US" sz="2800" b="1" dirty="0">
                <a:solidFill>
                  <a:srgbClr val="0E2841"/>
                </a:solidFill>
                <a:latin typeface="微軟正黑體"/>
                <a:ea typeface="微軟正黑體"/>
              </a:rPr>
              <a:t>/</a:t>
            </a:r>
            <a:r>
              <a:rPr lang="zh-TW" altLang="en-US" sz="2800" b="1" dirty="0">
                <a:solidFill>
                  <a:srgbClr val="0E2841"/>
                </a:solidFill>
                <a:latin typeface="微軟正黑體"/>
                <a:ea typeface="微軟正黑體"/>
              </a:rPr>
              <a:t>程式撰寫</a:t>
            </a:r>
            <a:endParaRPr sz="2800" b="1" dirty="0">
              <a:solidFill>
                <a:srgbClr val="0E2841"/>
              </a:solidFill>
              <a:latin typeface="微軟正黑體"/>
              <a:ea typeface="微軟正黑體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1188720"/>
            <a:ext cx="111556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5A6A7A"/>
                </a:solidFill>
                <a:latin typeface="微軟正黑體"/>
                <a:ea typeface="微軟正黑體"/>
              </a:rPr>
              <a:t>上回「院長 AI 日報／排程」最受歡迎；62.5% 學員希望再學自動化與 API 串接。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783080"/>
            <a:ext cx="356616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/>
              <a:ea typeface="微軟正黑體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02920" y="1783080"/>
            <a:ext cx="3566160" cy="45720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/>
              <a:ea typeface="微軟正黑體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0080" y="1856232"/>
            <a:ext cx="329184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900" b="1">
                <a:solidFill>
                  <a:srgbClr val="FFFFFF"/>
                </a:solidFill>
                <a:latin typeface="微軟正黑體"/>
                <a:ea typeface="微軟正黑體"/>
              </a:rPr>
              <a:t>今天先站穩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60600"/>
            <a:ext cx="3017520" cy="2184400"/>
          </a:xfrm>
          <a:prstGeom prst="rect">
            <a:avLst/>
          </a:prstGeom>
          <a:noFill/>
        </p:spPr>
        <p:txBody>
          <a:bodyPr wrap="square" anchor="ctr" anchorCtr="0"/>
          <a:lstStyle/>
          <a:p>
            <a:pPr algn="l"/>
            <a:r>
              <a:rPr sz="1800" b="0" dirty="0" err="1">
                <a:solidFill>
                  <a:srgbClr val="1A2A3A"/>
                </a:solidFill>
                <a:latin typeface="微軟正黑體"/>
                <a:ea typeface="微軟正黑體"/>
              </a:rPr>
              <a:t>OpenEvidence</a:t>
            </a:r>
            <a:r>
              <a:rPr sz="1800" b="0" dirty="0">
                <a:solidFill>
                  <a:srgbClr val="1A2A3A"/>
                </a:solidFill>
                <a:latin typeface="微軟正黑體"/>
                <a:ea typeface="微軟正黑體"/>
              </a:rPr>
              <a:t> </a:t>
            </a:r>
            <a:r>
              <a:rPr sz="1800" b="0" dirty="0" err="1">
                <a:solidFill>
                  <a:srgbClr val="1A2A3A"/>
                </a:solidFill>
                <a:latin typeface="微軟正黑體"/>
                <a:ea typeface="微軟正黑體"/>
              </a:rPr>
              <a:t>會問</a:t>
            </a:r>
            <a:r>
              <a:rPr sz="1800" b="0" dirty="0">
                <a:solidFill>
                  <a:srgbClr val="1A2A3A"/>
                </a:solidFill>
                <a:latin typeface="微軟正黑體"/>
                <a:ea typeface="微軟正黑體"/>
              </a:rPr>
              <a:t>
</a:t>
            </a:r>
            <a:r>
              <a:rPr sz="1800" b="0" dirty="0" err="1">
                <a:solidFill>
                  <a:srgbClr val="1A2A3A"/>
                </a:solidFill>
                <a:latin typeface="微軟正黑體"/>
                <a:ea typeface="微軟正黑體"/>
              </a:rPr>
              <a:t>申報檔會分析、會去識別</a:t>
            </a:r>
            <a:r>
              <a:rPr sz="1800" b="0" dirty="0">
                <a:solidFill>
                  <a:srgbClr val="1A2A3A"/>
                </a:solidFill>
                <a:latin typeface="微軟正黑體"/>
                <a:ea typeface="微軟正黑體"/>
              </a:rPr>
              <a:t>
ChatGPT </a:t>
            </a:r>
            <a:r>
              <a:rPr sz="1800" b="0" dirty="0" err="1">
                <a:solidFill>
                  <a:srgbClr val="1A2A3A"/>
                </a:solidFill>
                <a:latin typeface="微軟正黑體"/>
                <a:ea typeface="微軟正黑體"/>
              </a:rPr>
              <a:t>會下口語指令</a:t>
            </a:r>
            <a:endParaRPr sz="1800" b="0" dirty="0">
              <a:solidFill>
                <a:srgbClr val="1A2A3A"/>
              </a:solidFill>
              <a:latin typeface="微軟正黑體"/>
              <a:ea typeface="微軟正黑體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343400" y="1783080"/>
            <a:ext cx="356616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/>
              <a:ea typeface="微軟正黑體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343400" y="1783080"/>
            <a:ext cx="3566160" cy="45720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/>
              <a:ea typeface="微軟正黑體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480560" y="1856232"/>
            <a:ext cx="329184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900" b="1">
                <a:solidFill>
                  <a:srgbClr val="FFFFFF"/>
                </a:solidFill>
                <a:latin typeface="微軟正黑體"/>
                <a:ea typeface="微軟正黑體"/>
              </a:rPr>
              <a:t>自動化在做什麼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260600"/>
            <a:ext cx="3017520" cy="2184400"/>
          </a:xfrm>
          <a:prstGeom prst="rect">
            <a:avLst/>
          </a:prstGeom>
          <a:noFill/>
        </p:spPr>
        <p:txBody>
          <a:bodyPr wrap="square" anchor="ctr" anchorCtr="0"/>
          <a:lstStyle/>
          <a:p>
            <a:pPr algn="l"/>
            <a:r>
              <a:rPr sz="1800" b="0">
                <a:solidFill>
                  <a:srgbClr val="1A2A3A"/>
                </a:solidFill>
                <a:latin typeface="微軟正黑體"/>
                <a:ea typeface="微軟正黑體"/>
              </a:rPr>
              <a:t>讓 AI 固定時間做事
或接到日曆／信件／試算表
不用每次手動重來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80" y="1783080"/>
            <a:ext cx="356616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/>
              <a:ea typeface="微軟正黑體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183880" y="1783080"/>
            <a:ext cx="3566160" cy="457200"/>
          </a:xfrm>
          <a:prstGeom prst="rect">
            <a:avLst/>
          </a:prstGeom>
          <a:solidFill>
            <a:srgbClr val="0E2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/>
              <a:ea typeface="微軟正黑體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321040" y="1856232"/>
            <a:ext cx="329184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900" b="1">
                <a:solidFill>
                  <a:srgbClr val="FFFFFF"/>
                </a:solidFill>
                <a:latin typeface="微軟正黑體"/>
                <a:ea typeface="微軟正黑體"/>
              </a:rPr>
              <a:t>API／連接器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2260600"/>
            <a:ext cx="3017520" cy="2184400"/>
          </a:xfrm>
          <a:prstGeom prst="rect">
            <a:avLst/>
          </a:prstGeom>
          <a:noFill/>
        </p:spPr>
        <p:txBody>
          <a:bodyPr wrap="square" anchor="ctr" anchorCtr="0"/>
          <a:lstStyle/>
          <a:p>
            <a:pPr algn="l"/>
            <a:r>
              <a:rPr sz="1800" b="0">
                <a:solidFill>
                  <a:srgbClr val="1A2A3A"/>
                </a:solidFill>
                <a:latin typeface="微軟正黑體"/>
                <a:ea typeface="微軟正黑體"/>
              </a:rPr>
              <a:t>API＝系統之間的接線
診所端常用：連接器、排程
先會用，再談自己寫程式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754880"/>
            <a:ext cx="11155680" cy="1097280"/>
          </a:xfrm>
          <a:prstGeom prst="roundRect">
            <a:avLst>
              <a:gd name="adj" fmla="val 5000"/>
            </a:avLst>
          </a:prstGeom>
          <a:solidFill>
            <a:srgbClr val="FDF0E8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/>
              <a:ea typeface="微軟正黑體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502920" y="4754880"/>
            <a:ext cx="91440" cy="109728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/>
              <a:ea typeface="微軟正黑體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22960" y="4956048"/>
            <a:ext cx="10652760" cy="777240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sz="1800" b="0" dirty="0" err="1">
                <a:solidFill>
                  <a:srgbClr val="0E2841"/>
                </a:solidFill>
                <a:latin typeface="微軟正黑體"/>
                <a:ea typeface="微軟正黑體"/>
              </a:rPr>
              <a:t>這堂課不深挖寫程式</a:t>
            </a:r>
            <a:r>
              <a:rPr sz="1800" b="0" dirty="0">
                <a:solidFill>
                  <a:srgbClr val="0E2841"/>
                </a:solidFill>
                <a:latin typeface="微軟正黑體"/>
                <a:ea typeface="微軟正黑體"/>
              </a:rPr>
              <a:t>。</a:t>
            </a:r>
            <a:r>
              <a:rPr lang="zh-TW" altLang="en-US" dirty="0">
                <a:solidFill>
                  <a:srgbClr val="0E2841"/>
                </a:solidFill>
                <a:latin typeface="微軟正黑體"/>
                <a:ea typeface="微軟正黑體"/>
              </a:rPr>
              <a:t>示範串接 </a:t>
            </a:r>
            <a:r>
              <a:rPr lang="en">
                <a:solidFill>
                  <a:srgbClr val="0E2841"/>
                </a:solidFill>
                <a:latin typeface="微軟正黑體"/>
                <a:ea typeface="微軟正黑體"/>
              </a:rPr>
              <a:t>Google Calendar API。</a:t>
            </a:r>
            <a:endParaRPr sz="1800" b="0" dirty="0">
              <a:solidFill>
                <a:srgbClr val="0E2841"/>
              </a:solidFill>
              <a:latin typeface="微軟正黑體"/>
              <a:ea typeface="微軟正黑體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/>
              <a:ea typeface="微軟正黑體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0" y="6492240"/>
            <a:ext cx="12191695" cy="18288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/>
              <a:ea typeface="微軟正黑體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02920" y="6547104"/>
            <a:ext cx="9144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5A6A7A"/>
                </a:solidFill>
                <a:latin typeface="微軟正黑體"/>
                <a:ea typeface="微軟正黑體"/>
              </a:rPr>
              <a:t>大台中診所協會 胡哲禎醫師 ｜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20095" y="6547104"/>
            <a:ext cx="914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5A6A7A"/>
                </a:solidFill>
                <a:latin typeface="微軟正黑體"/>
                <a:ea typeface="微軟正黑體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34393862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/>
              <a:ea typeface="微軟正黑體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156082"/>
                </a:solidFill>
                <a:latin typeface="微軟正黑體"/>
                <a:ea typeface="微軟正黑體"/>
              </a:rPr>
              <a:t>進階預告｜下一堂可以往哪走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0E2841"/>
                </a:solidFill>
                <a:latin typeface="微軟正黑體"/>
                <a:ea typeface="微軟正黑體"/>
              </a:rPr>
              <a:t>依學員需求：下一堂主題候選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88720"/>
            <a:ext cx="111556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5A6A7A"/>
                </a:solidFill>
                <a:latin typeface="微軟正黑體"/>
                <a:ea typeface="微軟正黑體"/>
              </a:rPr>
              <a:t>數據來自上回 8 份回饋（複選）。今天先把兩條主線帶走；下面是系列課可接的方向。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91640"/>
            <a:ext cx="11155680" cy="914400"/>
          </a:xfrm>
          <a:prstGeom prst="roundRect">
            <a:avLst>
              <a:gd name="adj" fmla="val 5000"/>
            </a:avLst>
          </a:prstGeom>
          <a:solidFill>
            <a:srgbClr val="F3F6F8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/>
              <a:ea typeface="微軟正黑體"/>
            </a:endParaRPr>
          </a:p>
        </p:txBody>
      </p:sp>
      <p:sp>
        <p:nvSpPr>
          <p:cNvPr id="7" name="Oval 6"/>
          <p:cNvSpPr/>
          <p:nvPr/>
        </p:nvSpPr>
        <p:spPr>
          <a:xfrm>
            <a:off x="731520" y="1920240"/>
            <a:ext cx="457200" cy="457200"/>
          </a:xfrm>
          <a:prstGeom prst="ellipse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/>
              <a:ea typeface="微軟正黑體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1520" y="1965960"/>
            <a:ext cx="45720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軟正黑體"/>
                <a:ea typeface="微軟正黑體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801368"/>
            <a:ext cx="98755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700" b="1">
                <a:solidFill>
                  <a:srgbClr val="0E2841"/>
                </a:solidFill>
                <a:latin typeface="微軟正黑體"/>
                <a:ea typeface="微軟正黑體"/>
              </a:rPr>
              <a:t>診所行政與客管 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148840"/>
            <a:ext cx="98755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A2A3A"/>
                </a:solidFill>
                <a:latin typeface="微軟正黑體"/>
                <a:ea typeface="微軟正黑體"/>
              </a:rPr>
              <a:t>回饋最高（約 87%）　預約、通知、衛教追蹤等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743200"/>
            <a:ext cx="1115568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/>
              <a:ea typeface="微軟正黑體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731520" y="2971800"/>
            <a:ext cx="457200" cy="457200"/>
          </a:xfrm>
          <a:prstGeom prst="ellipse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/>
              <a:ea typeface="微軟正黑體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31520" y="3017520"/>
            <a:ext cx="45720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軟正黑體"/>
                <a:ea typeface="微軟正黑體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2852928"/>
            <a:ext cx="98755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700" b="1">
                <a:solidFill>
                  <a:srgbClr val="0E2841"/>
                </a:solidFill>
                <a:latin typeface="微軟正黑體"/>
                <a:ea typeface="微軟正黑體"/>
              </a:rPr>
              <a:t>API／自動化工作流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200400"/>
            <a:ext cx="98755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A2A3A"/>
                </a:solidFill>
                <a:latin typeface="微軟正黑體"/>
                <a:ea typeface="微軟正黑體"/>
              </a:rPr>
              <a:t>約 62%　排程、連接器、系統串接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794760"/>
            <a:ext cx="11155680" cy="914400"/>
          </a:xfrm>
          <a:prstGeom prst="roundRect">
            <a:avLst>
              <a:gd name="adj" fmla="val 5000"/>
            </a:avLst>
          </a:prstGeom>
          <a:solidFill>
            <a:srgbClr val="F3F6F8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/>
              <a:ea typeface="微軟正黑體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731520" y="4023360"/>
            <a:ext cx="457200" cy="457200"/>
          </a:xfrm>
          <a:prstGeom prst="ellipse">
            <a:avLst/>
          </a:prstGeom>
          <a:solidFill>
            <a:srgbClr val="0E2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/>
              <a:ea typeface="微軟正黑體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31520" y="4069080"/>
            <a:ext cx="45720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軟正黑體"/>
                <a:ea typeface="微軟正黑體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3904488"/>
            <a:ext cx="98755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sz="1700" b="1" dirty="0" err="1">
                <a:solidFill>
                  <a:srgbClr val="0E2841"/>
                </a:solidFill>
                <a:latin typeface="微軟正黑體"/>
                <a:ea typeface="微軟正黑體"/>
              </a:rPr>
              <a:t>個資隱私與合規</a:t>
            </a:r>
            <a:r>
              <a:rPr lang="en-US" sz="1700" b="1" dirty="0">
                <a:solidFill>
                  <a:srgbClr val="0E2841"/>
                </a:solidFill>
                <a:latin typeface="微軟正黑體"/>
                <a:ea typeface="微軟正黑體"/>
              </a:rPr>
              <a:t> =&gt; </a:t>
            </a:r>
            <a:r>
              <a:rPr lang="zh-TW" altLang="en-US" sz="1700" b="1" dirty="0">
                <a:solidFill>
                  <a:srgbClr val="0E2841"/>
                </a:solidFill>
                <a:latin typeface="微軟正黑體"/>
                <a:ea typeface="微軟正黑體"/>
              </a:rPr>
              <a:t>地端模型架設</a:t>
            </a:r>
            <a:endParaRPr sz="1700" b="1" dirty="0">
              <a:solidFill>
                <a:srgbClr val="0E2841"/>
              </a:solidFill>
              <a:latin typeface="微軟正黑體"/>
              <a:ea typeface="微軟正黑體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417320" y="4251960"/>
            <a:ext cx="98755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A2A3A"/>
                </a:solidFill>
                <a:latin typeface="微軟正黑體"/>
                <a:ea typeface="微軟正黑體"/>
              </a:rPr>
              <a:t>約 62%　去識別檢查清單再加深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4846319"/>
            <a:ext cx="1115568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/>
              <a:ea typeface="微軟正黑體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731520" y="5074919"/>
            <a:ext cx="457200" cy="457200"/>
          </a:xfrm>
          <a:prstGeom prst="ellipse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/>
              <a:ea typeface="微軟正黑體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31520" y="5120639"/>
            <a:ext cx="45720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軟正黑體"/>
                <a:ea typeface="微軟正黑體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4956047"/>
            <a:ext cx="98755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700" b="1">
                <a:solidFill>
                  <a:srgbClr val="0E2841"/>
                </a:solidFill>
                <a:latin typeface="微軟正黑體"/>
                <a:ea typeface="微軟正黑體"/>
              </a:rPr>
              <a:t>影像／設計進階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20" y="5303519"/>
            <a:ext cx="98755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A2A3A"/>
                </a:solidFill>
                <a:latin typeface="微軟正黑體"/>
                <a:ea typeface="微軟正黑體"/>
              </a:rPr>
              <a:t>約 50%　有興趣再另開專場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/>
              <a:ea typeface="微軟正黑體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0" y="6492240"/>
            <a:ext cx="12191695" cy="18288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/>
              <a:ea typeface="微軟正黑體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02920" y="6547104"/>
            <a:ext cx="9144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5A6A7A"/>
                </a:solidFill>
                <a:latin typeface="微軟正黑體"/>
                <a:ea typeface="微軟正黑體"/>
              </a:rPr>
              <a:t>大台中診所協會 胡哲禎醫師 ｜ 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20095" y="6547104"/>
            <a:ext cx="914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5A6A7A"/>
                </a:solidFill>
                <a:latin typeface="微軟正黑體"/>
                <a:ea typeface="微軟正黑體"/>
              </a:rPr>
              <a:t>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/>
              <a:ea typeface="微軟正黑體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/>
              <a:ea typeface="微軟正黑體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2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/>
              <a:ea typeface="微軟正黑體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5760720"/>
            <a:ext cx="12191695" cy="1097280"/>
          </a:xfrm>
          <a:prstGeom prst="rect">
            <a:avLst/>
          </a:prstGeom>
          <a:solidFill>
            <a:srgbClr val="F3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/>
              <a:ea typeface="微軟正黑體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5760720"/>
            <a:ext cx="12191695" cy="36576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/>
              <a:ea typeface="微軟正黑體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85800" y="2286000"/>
            <a:ext cx="109728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800" b="1">
                <a:solidFill>
                  <a:srgbClr val="0E2841"/>
                </a:solidFill>
                <a:latin typeface="微軟正黑體"/>
                <a:ea typeface="微軟正黑體"/>
              </a:rPr>
              <a:t>Thank you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474720"/>
            <a:ext cx="10972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0">
                <a:solidFill>
                  <a:srgbClr val="156082"/>
                </a:solidFill>
                <a:latin typeface="微軟正黑體"/>
                <a:ea typeface="微軟正黑體"/>
              </a:rPr>
              <a:t>大台中診所協會｜胡哲禎 醫師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114800"/>
            <a:ext cx="109728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>
                <a:solidFill>
                  <a:srgbClr val="5A6A7A"/>
                </a:solidFill>
                <a:latin typeface="微軟正黑體"/>
                <a:ea typeface="微軟正黑體"/>
              </a:rPr>
              <a:t>Q&amp;A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 [1789272452632]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微軟正黑體"/>
        <a:ea typeface="微軟正黑體"/>
        <a:cs typeface="微軟正黑體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軟正黑體"/>
        <a:ea typeface="微軟正黑體"/>
        <a:cs typeface="微軟正黑體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1C6683F-093E-B449-9E48-909981B46720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b7e3e15d-aee2-4753-9e7c-a46de6b25814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124</TotalTime>
  <Words>1560</Words>
  <Application>Microsoft Macintosh PowerPoint</Application>
  <PresentationFormat>寬螢幕</PresentationFormat>
  <Paragraphs>268</Paragraphs>
  <Slides>20</Slides>
  <Notes>2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20</vt:i4>
      </vt:variant>
    </vt:vector>
  </HeadingPairs>
  <TitlesOfParts>
    <vt:vector size="24" baseType="lpstr">
      <vt:lpstr>微軟正黑體</vt:lpstr>
      <vt:lpstr>Aptos</vt:lpstr>
      <vt:lpstr>Arial</vt:lpstr>
      <vt:lpstr>Office Theme [1789272452632]</vt:lpstr>
      <vt:lpstr>PowerPoint 簡報</vt:lpstr>
      <vt:lpstr>PowerPoint 簡報</vt:lpstr>
      <vt:lpstr>PowerPoint 簡報</vt:lpstr>
      <vt:lpstr>PowerPoint 簡報</vt:lpstr>
      <vt:lpstr>OpenEvidence｜美國醫師最常用的臨床 AI</vt:lpstr>
      <vt:lpstr>PowerPoint 簡報</vt:lpstr>
      <vt:lpstr>PowerPoint 簡報</vt:lpstr>
      <vt:lpstr>PowerPoint 簡報</vt:lpstr>
      <vt:lpstr>PowerPoint 簡報</vt:lpstr>
      <vt:lpstr>分析營運資料(注意個資問題)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JEJEN HU</cp:lastModifiedBy>
  <cp:revision>4</cp:revision>
  <dcterms:created xsi:type="dcterms:W3CDTF">2013-01-27T09:14:16Z</dcterms:created>
  <dcterms:modified xsi:type="dcterms:W3CDTF">2026-09-13T04:21:54Z</dcterms:modified>
  <cp:category/>
</cp:coreProperties>
</file>